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4630400" cy="8229600"/>
  <p:notesSz cx="8229600" cy="14630400"/>
  <p:embeddedFontLst>
    <p:embeddedFont>
      <p:font typeface="Roboto Medium"/>
      <p:regular r:id="rId22"/>
    </p:embeddedFont>
    <p:embeddedFont>
      <p:font typeface="Roboto Medium"/>
      <p:regular r:id="rId23"/>
    </p:embeddedFont>
    <p:embeddedFont>
      <p:font typeface="Roboto Medium"/>
      <p:regular r:id="rId24"/>
    </p:embeddedFont>
    <p:embeddedFont>
      <p:font typeface="Roboto Medium"/>
      <p:regular r:id="rId25"/>
    </p:embeddedFont>
    <p:embeddedFont>
      <p:font typeface="Roboto"/>
      <p:regular r:id="rId26"/>
    </p:embeddedFont>
    <p:embeddedFont>
      <p:font typeface="Roboto"/>
      <p:regular r:id="rId27"/>
    </p:embeddedFont>
    <p:embeddedFont>
      <p:font typeface="Roboto"/>
      <p:regular r:id="rId28"/>
    </p:embeddedFont>
    <p:embeddedFont>
      <p:font typeface="Roboto"/>
      <p:regular r:id="rId2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font" Target="fonts/font1.fntdata"/><Relationship Id="rId23" Type="http://schemas.openxmlformats.org/officeDocument/2006/relationships/font" Target="fonts/font2.fntdata"/><Relationship Id="rId24" Type="http://schemas.openxmlformats.org/officeDocument/2006/relationships/font" Target="fonts/font3.fntdata"/><Relationship Id="rId25" Type="http://schemas.openxmlformats.org/officeDocument/2006/relationships/font" Target="fonts/font4.fntdata"/><Relationship Id="rId26" Type="http://schemas.openxmlformats.org/officeDocument/2006/relationships/font" Target="fonts/font5.fntdata"/><Relationship Id="rId27" Type="http://schemas.openxmlformats.org/officeDocument/2006/relationships/font" Target="fonts/font6.fntdata"/><Relationship Id="rId28" Type="http://schemas.openxmlformats.org/officeDocument/2006/relationships/font" Target="fonts/font7.fntdata"/><Relationship Id="rId29"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pn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2-1.png"/><Relationship Id="rId2" Type="http://schemas.openxmlformats.org/officeDocument/2006/relationships/image" Target="../media/image-1012-2.png"/><Relationship Id="rId4"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3-1.png"/><Relationship Id="rId2" Type="http://schemas.openxmlformats.org/officeDocument/2006/relationships/image" Target="../media/image-1013-2.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4-1.png"/><Relationship Id="rId2" Type="http://schemas.openxmlformats.org/officeDocument/2006/relationships/image" Target="../media/image-1014-2.png"/><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5-1.png"/><Relationship Id="rId2" Type="http://schemas.openxmlformats.org/officeDocument/2006/relationships/image" Target="../media/image-1015-2.png"/><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6-1.png"/><Relationship Id="rId2" Type="http://schemas.openxmlformats.org/officeDocument/2006/relationships/image" Target="../media/image-1016-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18">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9.png"/><Relationship Id="rId10" Type="http://schemas.openxmlformats.org/officeDocument/2006/relationships/image" Target="../media/image-4-10.svg"/><Relationship Id="rId11" Type="http://schemas.openxmlformats.org/officeDocument/2006/relationships/slideLayout" Target="../slideLayouts/slideLayout5.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slideLayout" Target="../slideLayouts/slideLayout6.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8.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image" Target="../media/image-13-3.png"/><Relationship Id="rId4" Type="http://schemas.openxmlformats.org/officeDocument/2006/relationships/image" Target="../media/image-13-4.svg"/><Relationship Id="rId5" Type="http://schemas.openxmlformats.org/officeDocument/2006/relationships/image" Target="../media/image-13-5.png"/><Relationship Id="rId6" Type="http://schemas.openxmlformats.org/officeDocument/2006/relationships/image" Target="../media/image-13-6.svg"/><Relationship Id="rId7" Type="http://schemas.openxmlformats.org/officeDocument/2006/relationships/image" Target="../media/image-13-7.png"/><Relationship Id="rId8" Type="http://schemas.openxmlformats.org/officeDocument/2006/relationships/image" Target="../media/image-13-8.svg"/><Relationship Id="rId9" Type="http://schemas.openxmlformats.org/officeDocument/2006/relationships/slideLayout" Target="../slideLayouts/slideLayout14.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872978"/>
            <a:ext cx="13042821" cy="1417558"/>
          </a:xfrm>
          <a:prstGeom prst="rect">
            <a:avLst/>
          </a:prstGeom>
          <a:noFill/>
          <a:ln/>
        </p:spPr>
        <p:txBody>
          <a:bodyPr wrap="square" lIns="0" tIns="0" rIns="0" bIns="0" rtlCol="0" anchor="t"/>
          <a:lstStyle/>
          <a:p>
            <a:pPr algn="l" indent="0" marL="0">
              <a:lnSpc>
                <a:spcPts val="5550"/>
              </a:lnSpc>
              <a:buNone/>
            </a:pPr>
            <a:r>
              <a:rPr lang="en-US" sz="4450" dirty="0">
                <a:solidFill>
                  <a:srgbClr val="FFFFFF"/>
                </a:solidFill>
                <a:latin typeface="Roboto Medium" pitchFamily="34" charset="0"/>
                <a:ea typeface="Roboto Medium" pitchFamily="34" charset="-122"/>
                <a:cs typeface="Roboto Medium" pitchFamily="34" charset="-120"/>
              </a:rPr>
              <a:t>Smart Attendance and Lecture Management System</a:t>
            </a:r>
            <a:endParaRPr lang="en-US" sz="4450" dirty="0"/>
          </a:p>
        </p:txBody>
      </p:sp>
      <p:sp>
        <p:nvSpPr>
          <p:cNvPr id="3" name="Text 1"/>
          <p:cNvSpPr/>
          <p:nvPr/>
        </p:nvSpPr>
        <p:spPr>
          <a:xfrm>
            <a:off x="793790" y="4630698"/>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Documentation of the system for automated attendance tracking and lecture management in a university environment using </a:t>
            </a:r>
            <a:pPr algn="l" indent="0" marL="0">
              <a:lnSpc>
                <a:spcPts val="2850"/>
              </a:lnSpc>
              <a:buNone/>
            </a:pPr>
            <a:r>
              <a:rPr lang="en-US" sz="1750" dirty="0">
                <a:solidFill>
                  <a:srgbClr val="5A6ED8"/>
                </a:solidFill>
                <a:latin typeface="Roboto" pitchFamily="34" charset="0"/>
                <a:ea typeface="Roboto" pitchFamily="34" charset="-122"/>
                <a:cs typeface="Roboto" pitchFamily="34" charset="-120"/>
              </a:rPr>
              <a:t>AI-powered facial recognition</a:t>
            </a:r>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778788"/>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FFFFFF"/>
                </a:solidFill>
                <a:latin typeface="Roboto Medium" pitchFamily="34" charset="0"/>
                <a:ea typeface="Roboto Medium" pitchFamily="34" charset="-122"/>
                <a:cs typeface="Roboto Medium" pitchFamily="34" charset="-120"/>
              </a:rPr>
              <a:t>System Overview</a:t>
            </a:r>
            <a:endParaRPr lang="en-US" sz="4450" dirty="0"/>
          </a:p>
        </p:txBody>
      </p:sp>
      <p:sp>
        <p:nvSpPr>
          <p:cNvPr id="3" name="Text 1"/>
          <p:cNvSpPr/>
          <p:nvPr/>
        </p:nvSpPr>
        <p:spPr>
          <a:xfrm>
            <a:off x="793790" y="1941195"/>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This is a mobile application designed to streamline university lecture management and attendance tracking for students and professors.</a:t>
            </a:r>
            <a:endParaRPr lang="en-US" sz="1750" dirty="0"/>
          </a:p>
        </p:txBody>
      </p:sp>
      <p:sp>
        <p:nvSpPr>
          <p:cNvPr id="4" name="Shape 2"/>
          <p:cNvSpPr/>
          <p:nvPr/>
        </p:nvSpPr>
        <p:spPr>
          <a:xfrm>
            <a:off x="793790" y="2922151"/>
            <a:ext cx="4196358" cy="2946678"/>
          </a:xfrm>
          <a:prstGeom prst="roundRect">
            <a:avLst>
              <a:gd name="adj" fmla="val 3233"/>
            </a:avLst>
          </a:prstGeom>
          <a:solidFill>
            <a:srgbClr val="182567"/>
          </a:solidFill>
          <a:ln w="7620">
            <a:solidFill>
              <a:srgbClr val="313E80"/>
            </a:solidFill>
            <a:prstDash val="solid"/>
          </a:ln>
        </p:spPr>
      </p:sp>
      <p:sp>
        <p:nvSpPr>
          <p:cNvPr id="5" name="Shape 3"/>
          <p:cNvSpPr/>
          <p:nvPr/>
        </p:nvSpPr>
        <p:spPr>
          <a:xfrm>
            <a:off x="1028224" y="3156585"/>
            <a:ext cx="680442" cy="680442"/>
          </a:xfrm>
          <a:prstGeom prst="roundRect">
            <a:avLst>
              <a:gd name="adj" fmla="val 13436980"/>
            </a:avLst>
          </a:prstGeom>
          <a:solidFill>
            <a:srgbClr val="5A6ED8"/>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15390" y="3343632"/>
            <a:ext cx="306110" cy="306110"/>
          </a:xfrm>
          <a:prstGeom prst="rect">
            <a:avLst/>
          </a:prstGeom>
        </p:spPr>
      </p:pic>
      <p:sp>
        <p:nvSpPr>
          <p:cNvPr id="7" name="Text 4"/>
          <p:cNvSpPr/>
          <p:nvPr/>
        </p:nvSpPr>
        <p:spPr>
          <a:xfrm>
            <a:off x="1028224" y="4063841"/>
            <a:ext cx="3253978"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Mobile-Based Application</a:t>
            </a:r>
            <a:endParaRPr lang="en-US" sz="2200" dirty="0"/>
          </a:p>
        </p:txBody>
      </p:sp>
      <p:sp>
        <p:nvSpPr>
          <p:cNvPr id="8" name="Text 5"/>
          <p:cNvSpPr/>
          <p:nvPr/>
        </p:nvSpPr>
        <p:spPr>
          <a:xfrm>
            <a:off x="1028224" y="4554260"/>
            <a:ext cx="3727490" cy="725805"/>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Flexible and portable user interface for quick access.</a:t>
            </a:r>
            <a:endParaRPr lang="en-US" sz="1750" dirty="0"/>
          </a:p>
        </p:txBody>
      </p:sp>
      <p:sp>
        <p:nvSpPr>
          <p:cNvPr id="9" name="Shape 6"/>
          <p:cNvSpPr/>
          <p:nvPr/>
        </p:nvSpPr>
        <p:spPr>
          <a:xfrm>
            <a:off x="5216962" y="2922151"/>
            <a:ext cx="4196358" cy="2946678"/>
          </a:xfrm>
          <a:prstGeom prst="roundRect">
            <a:avLst>
              <a:gd name="adj" fmla="val 3233"/>
            </a:avLst>
          </a:prstGeom>
          <a:solidFill>
            <a:srgbClr val="182567"/>
          </a:solidFill>
          <a:ln w="7620">
            <a:solidFill>
              <a:srgbClr val="313E80"/>
            </a:solidFill>
            <a:prstDash val="solid"/>
          </a:ln>
        </p:spPr>
      </p:sp>
      <p:sp>
        <p:nvSpPr>
          <p:cNvPr id="10" name="Shape 7"/>
          <p:cNvSpPr/>
          <p:nvPr/>
        </p:nvSpPr>
        <p:spPr>
          <a:xfrm>
            <a:off x="5451396" y="3156585"/>
            <a:ext cx="680442" cy="680442"/>
          </a:xfrm>
          <a:prstGeom prst="roundRect">
            <a:avLst>
              <a:gd name="adj" fmla="val 13436980"/>
            </a:avLst>
          </a:prstGeom>
          <a:solidFill>
            <a:srgbClr val="5A6ED8"/>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38562" y="3343632"/>
            <a:ext cx="306110" cy="306110"/>
          </a:xfrm>
          <a:prstGeom prst="rect">
            <a:avLst/>
          </a:prstGeom>
        </p:spPr>
      </p:pic>
      <p:sp>
        <p:nvSpPr>
          <p:cNvPr id="12" name="Text 8"/>
          <p:cNvSpPr/>
          <p:nvPr/>
        </p:nvSpPr>
        <p:spPr>
          <a:xfrm>
            <a:off x="5451396" y="4063841"/>
            <a:ext cx="3727490" cy="708660"/>
          </a:xfrm>
          <a:prstGeom prst="rect">
            <a:avLst/>
          </a:prstGeom>
          <a:noFill/>
          <a:ln/>
        </p:spPr>
        <p:txBody>
          <a:bodyPr wrap="square" lIns="0" tIns="0" rIns="0" bIns="0" rtlCol="0" anchor="t"/>
          <a:lstStyle/>
          <a:p>
            <a:pPr algn="l"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AI-Powered Attendance Automation</a:t>
            </a:r>
            <a:endParaRPr lang="en-US" sz="2200" dirty="0"/>
          </a:p>
        </p:txBody>
      </p:sp>
      <p:sp>
        <p:nvSpPr>
          <p:cNvPr id="13" name="Text 9"/>
          <p:cNvSpPr/>
          <p:nvPr/>
        </p:nvSpPr>
        <p:spPr>
          <a:xfrm>
            <a:off x="5451396" y="4908590"/>
            <a:ext cx="3727490" cy="725805"/>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Eliminates manual roll call and provides accurate, real-time records.</a:t>
            </a:r>
            <a:endParaRPr lang="en-US" sz="1750" dirty="0"/>
          </a:p>
        </p:txBody>
      </p:sp>
      <p:sp>
        <p:nvSpPr>
          <p:cNvPr id="14" name="Shape 10"/>
          <p:cNvSpPr/>
          <p:nvPr/>
        </p:nvSpPr>
        <p:spPr>
          <a:xfrm>
            <a:off x="9640133" y="2922151"/>
            <a:ext cx="4196358" cy="2946678"/>
          </a:xfrm>
          <a:prstGeom prst="roundRect">
            <a:avLst>
              <a:gd name="adj" fmla="val 3233"/>
            </a:avLst>
          </a:prstGeom>
          <a:solidFill>
            <a:srgbClr val="182567"/>
          </a:solidFill>
          <a:ln w="7620">
            <a:solidFill>
              <a:srgbClr val="313E80"/>
            </a:solidFill>
            <a:prstDash val="solid"/>
          </a:ln>
        </p:spPr>
      </p:sp>
      <p:sp>
        <p:nvSpPr>
          <p:cNvPr id="15" name="Shape 11"/>
          <p:cNvSpPr/>
          <p:nvPr/>
        </p:nvSpPr>
        <p:spPr>
          <a:xfrm>
            <a:off x="9874568" y="3156585"/>
            <a:ext cx="680442" cy="680442"/>
          </a:xfrm>
          <a:prstGeom prst="roundRect">
            <a:avLst>
              <a:gd name="adj" fmla="val 13436980"/>
            </a:avLst>
          </a:prstGeom>
          <a:solidFill>
            <a:srgbClr val="5A6ED8"/>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61734" y="3343632"/>
            <a:ext cx="306110" cy="306110"/>
          </a:xfrm>
          <a:prstGeom prst="rect">
            <a:avLst/>
          </a:prstGeom>
        </p:spPr>
      </p:pic>
      <p:sp>
        <p:nvSpPr>
          <p:cNvPr id="17" name="Text 12"/>
          <p:cNvSpPr/>
          <p:nvPr/>
        </p:nvSpPr>
        <p:spPr>
          <a:xfrm>
            <a:off x="9874568" y="4063841"/>
            <a:ext cx="3727490" cy="708660"/>
          </a:xfrm>
          <a:prstGeom prst="rect">
            <a:avLst/>
          </a:prstGeom>
          <a:noFill/>
          <a:ln/>
        </p:spPr>
        <p:txBody>
          <a:bodyPr wrap="square" lIns="0" tIns="0" rIns="0" bIns="0" rtlCol="0" anchor="t"/>
          <a:lstStyle/>
          <a:p>
            <a:pPr algn="l"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Comprehensive Lecture Management</a:t>
            </a:r>
            <a:endParaRPr lang="en-US" sz="2200" dirty="0"/>
          </a:p>
        </p:txBody>
      </p:sp>
      <p:sp>
        <p:nvSpPr>
          <p:cNvPr id="18" name="Text 13"/>
          <p:cNvSpPr/>
          <p:nvPr/>
        </p:nvSpPr>
        <p:spPr>
          <a:xfrm>
            <a:off x="9874568" y="4908590"/>
            <a:ext cx="3727490" cy="725805"/>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Tools for course scheduling, content management, and reporting.</a:t>
            </a:r>
            <a:endParaRPr lang="en-US" sz="1750" dirty="0"/>
          </a:p>
        </p:txBody>
      </p:sp>
      <p:sp>
        <p:nvSpPr>
          <p:cNvPr id="19" name="Shape 14"/>
          <p:cNvSpPr/>
          <p:nvPr/>
        </p:nvSpPr>
        <p:spPr>
          <a:xfrm>
            <a:off x="793790" y="6123980"/>
            <a:ext cx="13042821" cy="1326713"/>
          </a:xfrm>
          <a:prstGeom prst="roundRect">
            <a:avLst>
              <a:gd name="adj" fmla="val 7181"/>
            </a:avLst>
          </a:prstGeom>
          <a:solidFill>
            <a:srgbClr val="0F163E"/>
          </a:solidFill>
          <a:ln/>
        </p:spPr>
      </p:sp>
      <p:pic>
        <p:nvPicPr>
          <p:cNvPr id="20" name="Image 3" descr="preencoded.png">    </p:cNvPr>
          <p:cNvPicPr>
            <a:picLocks noChangeAspect="1"/>
          </p:cNvPicPr>
          <p:nvPr/>
        </p:nvPicPr>
        <p:blipFill>
          <a:blip r:embed="rId7"/>
          <a:stretch>
            <a:fillRect/>
          </a:stretch>
        </p:blipFill>
        <p:spPr>
          <a:xfrm>
            <a:off x="1020604" y="6468070"/>
            <a:ext cx="283488" cy="226814"/>
          </a:xfrm>
          <a:prstGeom prst="rect">
            <a:avLst/>
          </a:prstGeom>
        </p:spPr>
      </p:pic>
      <p:sp>
        <p:nvSpPr>
          <p:cNvPr id="21" name="Text 15"/>
          <p:cNvSpPr/>
          <p:nvPr/>
        </p:nvSpPr>
        <p:spPr>
          <a:xfrm>
            <a:off x="1530906" y="6407468"/>
            <a:ext cx="12078891" cy="725805"/>
          </a:xfrm>
          <a:prstGeom prst="rect">
            <a:avLst/>
          </a:prstGeom>
          <a:noFill/>
          <a:ln/>
        </p:spPr>
        <p:txBody>
          <a:bodyPr wrap="square" lIns="0" tIns="0" rIns="0" bIns="0" rtlCol="0" anchor="t"/>
          <a:lstStyle/>
          <a:p>
            <a:pPr algn="l" indent="0" marL="0">
              <a:lnSpc>
                <a:spcPts val="2850"/>
              </a:lnSpc>
              <a:buNone/>
            </a:pPr>
            <a:r>
              <a:rPr lang="en-US" sz="1750" dirty="0">
                <a:solidFill>
                  <a:srgbClr val="FFFFFF"/>
                </a:solidFill>
                <a:latin typeface="Roboto" pitchFamily="34" charset="0"/>
                <a:ea typeface="Roboto" pitchFamily="34" charset="-122"/>
                <a:cs typeface="Roboto" pitchFamily="34" charset="-120"/>
              </a:rPr>
              <a:t>This prototype version runs the backend locally and uses ngrok to expose it publicly over HTTPS, allowing the Flutter mobile app on physical devices to connect seamlessly to the local server for end-to-end testing with a small dataset .</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046798"/>
            <a:ext cx="7739182" cy="708779"/>
          </a:xfrm>
          <a:prstGeom prst="rect">
            <a:avLst/>
          </a:prstGeom>
          <a:noFill/>
          <a:ln/>
        </p:spPr>
        <p:txBody>
          <a:bodyPr wrap="none" lIns="0" tIns="0" rIns="0" bIns="0" rtlCol="0" anchor="t"/>
          <a:lstStyle/>
          <a:p>
            <a:pPr algn="l" indent="0" marL="0">
              <a:lnSpc>
                <a:spcPts val="5550"/>
              </a:lnSpc>
              <a:buNone/>
            </a:pPr>
            <a:r>
              <a:rPr lang="en-US" sz="4450" dirty="0">
                <a:solidFill>
                  <a:srgbClr val="FFFFFF"/>
                </a:solidFill>
                <a:latin typeface="Roboto Medium" pitchFamily="34" charset="0"/>
                <a:ea typeface="Roboto Medium" pitchFamily="34" charset="-122"/>
                <a:cs typeface="Roboto Medium" pitchFamily="34" charset="-120"/>
              </a:rPr>
              <a:t>Technical System Architecture</a:t>
            </a:r>
            <a:endParaRPr lang="en-US" sz="4450" dirty="0"/>
          </a:p>
        </p:txBody>
      </p:sp>
      <p:sp>
        <p:nvSpPr>
          <p:cNvPr id="3" name="Text 1"/>
          <p:cNvSpPr/>
          <p:nvPr/>
        </p:nvSpPr>
        <p:spPr>
          <a:xfrm>
            <a:off x="793790" y="2209205"/>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Technologies used to power the initial system, focusing on seamless integration between components.</a:t>
            </a:r>
            <a:endParaRPr lang="en-US" sz="1750" dirty="0"/>
          </a:p>
        </p:txBody>
      </p:sp>
      <p:sp>
        <p:nvSpPr>
          <p:cNvPr id="4" name="Shape 2"/>
          <p:cNvSpPr/>
          <p:nvPr/>
        </p:nvSpPr>
        <p:spPr>
          <a:xfrm>
            <a:off x="793790" y="2827258"/>
            <a:ext cx="13042821" cy="4355544"/>
          </a:xfrm>
          <a:prstGeom prst="roundRect">
            <a:avLst>
              <a:gd name="adj" fmla="val 2187"/>
            </a:avLst>
          </a:prstGeom>
          <a:noFill/>
          <a:ln w="7620">
            <a:solidFill>
              <a:srgbClr val="FFFFFF">
                <a:alpha val="24000"/>
              </a:srgbClr>
            </a:solidFill>
            <a:prstDash val="solid"/>
          </a:ln>
        </p:spPr>
      </p:sp>
      <p:sp>
        <p:nvSpPr>
          <p:cNvPr id="5" name="Shape 3"/>
          <p:cNvSpPr/>
          <p:nvPr/>
        </p:nvSpPr>
        <p:spPr>
          <a:xfrm>
            <a:off x="801410" y="2834878"/>
            <a:ext cx="13027581" cy="1013222"/>
          </a:xfrm>
          <a:prstGeom prst="rect">
            <a:avLst/>
          </a:prstGeom>
          <a:solidFill>
            <a:srgbClr val="FFFFFF">
              <a:alpha val="4000"/>
            </a:srgbClr>
          </a:solidFill>
          <a:ln/>
        </p:spPr>
      </p:sp>
      <p:sp>
        <p:nvSpPr>
          <p:cNvPr id="6" name="Text 4"/>
          <p:cNvSpPr/>
          <p:nvPr/>
        </p:nvSpPr>
        <p:spPr>
          <a:xfrm>
            <a:off x="1028343" y="2978587"/>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Mobile Application</a:t>
            </a:r>
            <a:endParaRPr lang="en-US" sz="1750" dirty="0"/>
          </a:p>
        </p:txBody>
      </p:sp>
      <p:sp>
        <p:nvSpPr>
          <p:cNvPr id="7" name="Text 5"/>
          <p:cNvSpPr/>
          <p:nvPr/>
        </p:nvSpPr>
        <p:spPr>
          <a:xfrm>
            <a:off x="3637598" y="2978587"/>
            <a:ext cx="6052542" cy="725805"/>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User interface for registration, face enrollment, login, and attendance viewing.</a:t>
            </a:r>
            <a:endParaRPr lang="en-US" sz="1750" dirty="0"/>
          </a:p>
        </p:txBody>
      </p:sp>
      <p:sp>
        <p:nvSpPr>
          <p:cNvPr id="8" name="Text 6"/>
          <p:cNvSpPr/>
          <p:nvPr/>
        </p:nvSpPr>
        <p:spPr>
          <a:xfrm>
            <a:off x="10151388" y="2978587"/>
            <a:ext cx="3450788" cy="362903"/>
          </a:xfrm>
          <a:prstGeom prst="rect">
            <a:avLst/>
          </a:prstGeom>
          <a:noFill/>
          <a:ln/>
        </p:spPr>
        <p:txBody>
          <a:bodyPr wrap="none" lIns="0" tIns="0" rIns="0" bIns="0" rtlCol="0" anchor="t"/>
          <a:lstStyle/>
          <a:p>
            <a:pPr algn="l" indent="0" marL="0">
              <a:lnSpc>
                <a:spcPts val="2850"/>
              </a:lnSpc>
              <a:buNone/>
            </a:pPr>
            <a:r>
              <a:rPr lang="en-US" sz="1750" b="1" dirty="0">
                <a:solidFill>
                  <a:srgbClr val="CFD0D8"/>
                </a:solidFill>
                <a:latin typeface="Roboto" pitchFamily="34" charset="0"/>
                <a:ea typeface="Roboto" pitchFamily="34" charset="-122"/>
                <a:cs typeface="Roboto" pitchFamily="34" charset="-120"/>
              </a:rPr>
              <a:t>Flutter</a:t>
            </a:r>
            <a:endParaRPr lang="en-US" sz="1750" dirty="0"/>
          </a:p>
        </p:txBody>
      </p:sp>
      <p:sp>
        <p:nvSpPr>
          <p:cNvPr id="9" name="Shape 7"/>
          <p:cNvSpPr/>
          <p:nvPr/>
        </p:nvSpPr>
        <p:spPr>
          <a:xfrm>
            <a:off x="801410" y="3848100"/>
            <a:ext cx="13027581" cy="1013222"/>
          </a:xfrm>
          <a:prstGeom prst="rect">
            <a:avLst/>
          </a:prstGeom>
          <a:solidFill>
            <a:srgbClr val="000000">
              <a:alpha val="4000"/>
            </a:srgbClr>
          </a:solidFill>
          <a:ln/>
        </p:spPr>
      </p:sp>
      <p:sp>
        <p:nvSpPr>
          <p:cNvPr id="10" name="Text 8"/>
          <p:cNvSpPr/>
          <p:nvPr/>
        </p:nvSpPr>
        <p:spPr>
          <a:xfrm>
            <a:off x="1028343" y="3991808"/>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Backend API</a:t>
            </a:r>
            <a:endParaRPr lang="en-US" sz="1750" dirty="0"/>
          </a:p>
        </p:txBody>
      </p:sp>
      <p:sp>
        <p:nvSpPr>
          <p:cNvPr id="11" name="Text 9"/>
          <p:cNvSpPr/>
          <p:nvPr/>
        </p:nvSpPr>
        <p:spPr>
          <a:xfrm>
            <a:off x="3637598" y="3991808"/>
            <a:ext cx="6052542" cy="725805"/>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Handles authentication, data processing, AI orchestration, and database operations.</a:t>
            </a:r>
            <a:endParaRPr lang="en-US" sz="1750" dirty="0"/>
          </a:p>
        </p:txBody>
      </p:sp>
      <p:sp>
        <p:nvSpPr>
          <p:cNvPr id="12" name="Text 10"/>
          <p:cNvSpPr/>
          <p:nvPr/>
        </p:nvSpPr>
        <p:spPr>
          <a:xfrm>
            <a:off x="10151388" y="3991808"/>
            <a:ext cx="3450788" cy="362903"/>
          </a:xfrm>
          <a:prstGeom prst="rect">
            <a:avLst/>
          </a:prstGeom>
          <a:noFill/>
          <a:ln/>
        </p:spPr>
        <p:txBody>
          <a:bodyPr wrap="none" lIns="0" tIns="0" rIns="0" bIns="0" rtlCol="0" anchor="t"/>
          <a:lstStyle/>
          <a:p>
            <a:pPr algn="l" indent="0" marL="0">
              <a:lnSpc>
                <a:spcPts val="2850"/>
              </a:lnSpc>
              <a:buNone/>
            </a:pPr>
            <a:r>
              <a:rPr lang="en-US" sz="1750" b="1" dirty="0">
                <a:solidFill>
                  <a:srgbClr val="CFD0D8"/>
                </a:solidFill>
                <a:latin typeface="Roboto" pitchFamily="34" charset="0"/>
                <a:ea typeface="Roboto" pitchFamily="34" charset="-122"/>
                <a:cs typeface="Roboto" pitchFamily="34" charset="-120"/>
              </a:rPr>
              <a:t>FastAPI</a:t>
            </a:r>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 (Python)</a:t>
            </a:r>
            <a:endParaRPr lang="en-US" sz="1750" dirty="0"/>
          </a:p>
        </p:txBody>
      </p:sp>
      <p:sp>
        <p:nvSpPr>
          <p:cNvPr id="13" name="Shape 11"/>
          <p:cNvSpPr/>
          <p:nvPr/>
        </p:nvSpPr>
        <p:spPr>
          <a:xfrm>
            <a:off x="801410" y="4861322"/>
            <a:ext cx="13027581" cy="1013222"/>
          </a:xfrm>
          <a:prstGeom prst="rect">
            <a:avLst/>
          </a:prstGeom>
          <a:solidFill>
            <a:srgbClr val="FFFFFF">
              <a:alpha val="4000"/>
            </a:srgbClr>
          </a:solidFill>
          <a:ln/>
        </p:spPr>
      </p:sp>
      <p:sp>
        <p:nvSpPr>
          <p:cNvPr id="14" name="Text 12"/>
          <p:cNvSpPr/>
          <p:nvPr/>
        </p:nvSpPr>
        <p:spPr>
          <a:xfrm>
            <a:off x="1028343" y="5005030"/>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Database</a:t>
            </a:r>
            <a:endParaRPr lang="en-US" sz="1750" dirty="0"/>
          </a:p>
        </p:txBody>
      </p:sp>
      <p:sp>
        <p:nvSpPr>
          <p:cNvPr id="15" name="Text 13"/>
          <p:cNvSpPr/>
          <p:nvPr/>
        </p:nvSpPr>
        <p:spPr>
          <a:xfrm>
            <a:off x="3637598" y="5005030"/>
            <a:ext cx="6052542" cy="725805"/>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Stores users, embeddings, courses, lectures, and attendance records.</a:t>
            </a:r>
            <a:endParaRPr lang="en-US" sz="1750" dirty="0"/>
          </a:p>
        </p:txBody>
      </p:sp>
      <p:sp>
        <p:nvSpPr>
          <p:cNvPr id="16" name="Text 14"/>
          <p:cNvSpPr/>
          <p:nvPr/>
        </p:nvSpPr>
        <p:spPr>
          <a:xfrm>
            <a:off x="10151388" y="5005030"/>
            <a:ext cx="3450788" cy="362903"/>
          </a:xfrm>
          <a:prstGeom prst="rect">
            <a:avLst/>
          </a:prstGeom>
          <a:noFill/>
          <a:ln/>
        </p:spPr>
        <p:txBody>
          <a:bodyPr wrap="none" lIns="0" tIns="0" rIns="0" bIns="0" rtlCol="0" anchor="t"/>
          <a:lstStyle/>
          <a:p>
            <a:pPr algn="l" indent="0" marL="0">
              <a:lnSpc>
                <a:spcPts val="2850"/>
              </a:lnSpc>
              <a:buNone/>
            </a:pPr>
            <a:r>
              <a:rPr lang="en-US" sz="1750" b="1" dirty="0">
                <a:solidFill>
                  <a:srgbClr val="CFD0D8"/>
                </a:solidFill>
                <a:latin typeface="Roboto" pitchFamily="34" charset="0"/>
                <a:ea typeface="Roboto" pitchFamily="34" charset="-122"/>
                <a:cs typeface="Roboto" pitchFamily="34" charset="-120"/>
              </a:rPr>
              <a:t>PostgreSQL</a:t>
            </a:r>
            <a:endParaRPr lang="en-US" sz="1750" dirty="0"/>
          </a:p>
        </p:txBody>
      </p:sp>
      <p:sp>
        <p:nvSpPr>
          <p:cNvPr id="17" name="Shape 15"/>
          <p:cNvSpPr/>
          <p:nvPr/>
        </p:nvSpPr>
        <p:spPr>
          <a:xfrm>
            <a:off x="801410" y="5874544"/>
            <a:ext cx="13027581" cy="650319"/>
          </a:xfrm>
          <a:prstGeom prst="rect">
            <a:avLst/>
          </a:prstGeom>
          <a:solidFill>
            <a:srgbClr val="000000">
              <a:alpha val="4000"/>
            </a:srgbClr>
          </a:solidFill>
          <a:ln/>
        </p:spPr>
      </p:sp>
      <p:sp>
        <p:nvSpPr>
          <p:cNvPr id="18" name="Text 16"/>
          <p:cNvSpPr/>
          <p:nvPr/>
        </p:nvSpPr>
        <p:spPr>
          <a:xfrm>
            <a:off x="1028343" y="6018252"/>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AI Module</a:t>
            </a:r>
            <a:endParaRPr lang="en-US" sz="1750" dirty="0"/>
          </a:p>
        </p:txBody>
      </p:sp>
      <p:sp>
        <p:nvSpPr>
          <p:cNvPr id="19" name="Text 17"/>
          <p:cNvSpPr/>
          <p:nvPr/>
        </p:nvSpPr>
        <p:spPr>
          <a:xfrm>
            <a:off x="3637598" y="6018252"/>
            <a:ext cx="6052542" cy="362903"/>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Face detection, embedding generation, and matching.</a:t>
            </a:r>
            <a:endParaRPr lang="en-US" sz="1750" dirty="0"/>
          </a:p>
        </p:txBody>
      </p:sp>
      <p:sp>
        <p:nvSpPr>
          <p:cNvPr id="20" name="Text 18"/>
          <p:cNvSpPr/>
          <p:nvPr/>
        </p:nvSpPr>
        <p:spPr>
          <a:xfrm>
            <a:off x="10151388" y="6018252"/>
            <a:ext cx="3450788" cy="362903"/>
          </a:xfrm>
          <a:prstGeom prst="rect">
            <a:avLst/>
          </a:prstGeom>
          <a:noFill/>
          <a:ln/>
        </p:spPr>
        <p:txBody>
          <a:bodyPr wrap="none" lIns="0" tIns="0" rIns="0" bIns="0" rtlCol="0" anchor="t"/>
          <a:lstStyle/>
          <a:p>
            <a:pPr algn="l" indent="0" marL="0">
              <a:lnSpc>
                <a:spcPts val="2850"/>
              </a:lnSpc>
              <a:buNone/>
            </a:pPr>
            <a:r>
              <a:rPr lang="en-US" sz="1750" b="1" dirty="0">
                <a:solidFill>
                  <a:srgbClr val="CFD0D8"/>
                </a:solidFill>
                <a:latin typeface="Roboto" pitchFamily="34" charset="0"/>
                <a:ea typeface="Roboto" pitchFamily="34" charset="-122"/>
                <a:cs typeface="Roboto" pitchFamily="34" charset="-120"/>
              </a:rPr>
              <a:t>InsightFace, OpenCV</a:t>
            </a:r>
            <a:endParaRPr lang="en-US" sz="1750" dirty="0"/>
          </a:p>
        </p:txBody>
      </p:sp>
      <p:sp>
        <p:nvSpPr>
          <p:cNvPr id="21" name="Shape 19"/>
          <p:cNvSpPr/>
          <p:nvPr/>
        </p:nvSpPr>
        <p:spPr>
          <a:xfrm>
            <a:off x="801410" y="6524863"/>
            <a:ext cx="13027581" cy="650319"/>
          </a:xfrm>
          <a:prstGeom prst="rect">
            <a:avLst/>
          </a:prstGeom>
          <a:solidFill>
            <a:srgbClr val="FFFFFF">
              <a:alpha val="4000"/>
            </a:srgbClr>
          </a:solidFill>
          <a:ln/>
        </p:spPr>
      </p:sp>
      <p:sp>
        <p:nvSpPr>
          <p:cNvPr id="22" name="Text 20"/>
          <p:cNvSpPr/>
          <p:nvPr/>
        </p:nvSpPr>
        <p:spPr>
          <a:xfrm>
            <a:off x="1028343" y="6668572"/>
            <a:ext cx="2148007" cy="362903"/>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Local Testing</a:t>
            </a:r>
            <a:endParaRPr lang="en-US" sz="1750" dirty="0"/>
          </a:p>
        </p:txBody>
      </p:sp>
      <p:sp>
        <p:nvSpPr>
          <p:cNvPr id="23" name="Text 21"/>
          <p:cNvSpPr/>
          <p:nvPr/>
        </p:nvSpPr>
        <p:spPr>
          <a:xfrm>
            <a:off x="3637598" y="6668572"/>
            <a:ext cx="6052542" cy="362903"/>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Backend exposed via ngrok for mobile connectivity.</a:t>
            </a:r>
            <a:endParaRPr lang="en-US" sz="1750" dirty="0"/>
          </a:p>
        </p:txBody>
      </p:sp>
      <p:sp>
        <p:nvSpPr>
          <p:cNvPr id="24" name="Text 22"/>
          <p:cNvSpPr/>
          <p:nvPr/>
        </p:nvSpPr>
        <p:spPr>
          <a:xfrm>
            <a:off x="10151388" y="6668572"/>
            <a:ext cx="3450788" cy="362903"/>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Uvicorn + pyngrok</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100971"/>
            <a:ext cx="7229237" cy="708779"/>
          </a:xfrm>
          <a:prstGeom prst="rect">
            <a:avLst/>
          </a:prstGeom>
          <a:noFill/>
          <a:ln/>
        </p:spPr>
        <p:txBody>
          <a:bodyPr wrap="none" lIns="0" tIns="0" rIns="0" bIns="0" rtlCol="0" anchor="t"/>
          <a:lstStyle/>
          <a:p>
            <a:pPr algn="l" indent="0" marL="0">
              <a:lnSpc>
                <a:spcPts val="5550"/>
              </a:lnSpc>
              <a:buNone/>
            </a:pPr>
            <a:r>
              <a:rPr lang="en-US" sz="4450" dirty="0">
                <a:solidFill>
                  <a:srgbClr val="FFFFFF"/>
                </a:solidFill>
                <a:latin typeface="Roboto Medium" pitchFamily="34" charset="0"/>
                <a:ea typeface="Roboto Medium" pitchFamily="34" charset="-122"/>
                <a:cs typeface="Roboto Medium" pitchFamily="34" charset="-120"/>
              </a:rPr>
              <a:t>Key User Roles and Features</a:t>
            </a:r>
            <a:endParaRPr lang="en-US" sz="4450" dirty="0"/>
          </a:p>
        </p:txBody>
      </p:sp>
      <p:sp>
        <p:nvSpPr>
          <p:cNvPr id="3" name="Text 1"/>
          <p:cNvSpPr/>
          <p:nvPr/>
        </p:nvSpPr>
        <p:spPr>
          <a:xfrm>
            <a:off x="793790" y="2263378"/>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The system supports two main roles, each with a set of features designed to simplify their interaction with the system.</a:t>
            </a:r>
            <a:endParaRPr lang="en-US" sz="1750" dirty="0"/>
          </a:p>
        </p:txBody>
      </p:sp>
      <p:sp>
        <p:nvSpPr>
          <p:cNvPr id="4" name="Text 2"/>
          <p:cNvSpPr/>
          <p:nvPr/>
        </p:nvSpPr>
        <p:spPr>
          <a:xfrm>
            <a:off x="793790" y="3108246"/>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FFFFFF"/>
                </a:solidFill>
                <a:latin typeface="Roboto Medium" pitchFamily="34" charset="0"/>
                <a:ea typeface="Roboto Medium" pitchFamily="34" charset="-122"/>
                <a:cs typeface="Roboto Medium" pitchFamily="34" charset="-120"/>
              </a:rPr>
              <a:t>Students</a:t>
            </a:r>
            <a:endParaRPr lang="en-US" sz="26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78800" y="3799999"/>
            <a:ext cx="340162" cy="340162"/>
          </a:xfrm>
          <a:prstGeom prst="rect">
            <a:avLst/>
          </a:prstGeom>
        </p:spPr>
      </p:pic>
      <p:sp>
        <p:nvSpPr>
          <p:cNvPr id="6" name="Text 3"/>
          <p:cNvSpPr/>
          <p:nvPr/>
        </p:nvSpPr>
        <p:spPr>
          <a:xfrm>
            <a:off x="1530906" y="3788688"/>
            <a:ext cx="5507593" cy="1088708"/>
          </a:xfrm>
          <a:prstGeom prst="rect">
            <a:avLst/>
          </a:prstGeom>
          <a:noFill/>
          <a:ln/>
        </p:spPr>
        <p:txBody>
          <a:bodyPr wrap="square" lIns="0" tIns="0" rIns="0" bIns="0" rtlCol="0" anchor="t"/>
          <a:lstStyle/>
          <a:p>
            <a:pPr algn="l" indent="0" marL="0">
              <a:lnSpc>
                <a:spcPts val="2850"/>
              </a:lnSpc>
              <a:buNone/>
            </a:pPr>
            <a:r>
              <a:rPr lang="en-US" sz="1750" b="1" dirty="0">
                <a:solidFill>
                  <a:srgbClr val="CFD0D8"/>
                </a:solidFill>
                <a:latin typeface="Roboto" pitchFamily="34" charset="0"/>
                <a:ea typeface="Roboto" pitchFamily="34" charset="-122"/>
                <a:cs typeface="Roboto" pitchFamily="34" charset="-120"/>
              </a:rPr>
              <a:t>Registration and Face Enrollment:</a:t>
            </a:r>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 Register using university email and capture 5 facial images (different angles and lighting).</a:t>
            </a:r>
            <a:endParaRPr lang="en-US" sz="17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8800" y="5342334"/>
            <a:ext cx="340162" cy="340162"/>
          </a:xfrm>
          <a:prstGeom prst="rect">
            <a:avLst/>
          </a:prstGeom>
        </p:spPr>
      </p:pic>
      <p:sp>
        <p:nvSpPr>
          <p:cNvPr id="8" name="Text 4"/>
          <p:cNvSpPr/>
          <p:nvPr/>
        </p:nvSpPr>
        <p:spPr>
          <a:xfrm>
            <a:off x="1530906" y="5331023"/>
            <a:ext cx="5507593" cy="725805"/>
          </a:xfrm>
          <a:prstGeom prst="rect">
            <a:avLst/>
          </a:prstGeom>
          <a:noFill/>
          <a:ln/>
        </p:spPr>
        <p:txBody>
          <a:bodyPr wrap="square" lIns="0" tIns="0" rIns="0" bIns="0" rtlCol="0" anchor="t"/>
          <a:lstStyle/>
          <a:p>
            <a:pPr algn="l" indent="0" marL="0">
              <a:lnSpc>
                <a:spcPts val="2850"/>
              </a:lnSpc>
              <a:buNone/>
            </a:pPr>
            <a:r>
              <a:rPr lang="en-US" sz="1750" b="1" dirty="0">
                <a:solidFill>
                  <a:srgbClr val="CFD0D8"/>
                </a:solidFill>
                <a:latin typeface="Roboto" pitchFamily="34" charset="0"/>
                <a:ea typeface="Roboto" pitchFamily="34" charset="-122"/>
                <a:cs typeface="Roboto" pitchFamily="34" charset="-120"/>
              </a:rPr>
              <a:t>Attendance Tracking:</a:t>
            </a:r>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 Securely review personal attendance records.</a:t>
            </a:r>
            <a:endParaRPr lang="en-US" sz="1750" dirty="0"/>
          </a:p>
        </p:txBody>
      </p:sp>
      <p:sp>
        <p:nvSpPr>
          <p:cNvPr id="9" name="Text 5"/>
          <p:cNvSpPr/>
          <p:nvPr/>
        </p:nvSpPr>
        <p:spPr>
          <a:xfrm>
            <a:off x="7599521" y="3108246"/>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FFFFFF"/>
                </a:solidFill>
                <a:latin typeface="Roboto Medium" pitchFamily="34" charset="0"/>
                <a:ea typeface="Roboto Medium" pitchFamily="34" charset="-122"/>
                <a:cs typeface="Roboto Medium" pitchFamily="34" charset="-120"/>
              </a:rPr>
              <a:t>Doctors (Professors)</a:t>
            </a:r>
            <a:endParaRPr lang="en-US" sz="26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84532" y="3799999"/>
            <a:ext cx="340162" cy="340162"/>
          </a:xfrm>
          <a:prstGeom prst="rect">
            <a:avLst/>
          </a:prstGeom>
        </p:spPr>
      </p:pic>
      <p:sp>
        <p:nvSpPr>
          <p:cNvPr id="11" name="Text 6"/>
          <p:cNvSpPr/>
          <p:nvPr/>
        </p:nvSpPr>
        <p:spPr>
          <a:xfrm>
            <a:off x="8336637" y="3788688"/>
            <a:ext cx="5507593" cy="725805"/>
          </a:xfrm>
          <a:prstGeom prst="rect">
            <a:avLst/>
          </a:prstGeom>
          <a:noFill/>
          <a:ln/>
        </p:spPr>
        <p:txBody>
          <a:bodyPr wrap="square" lIns="0" tIns="0" rIns="0" bIns="0" rtlCol="0" anchor="t"/>
          <a:lstStyle/>
          <a:p>
            <a:pPr algn="l" indent="0" marL="0">
              <a:lnSpc>
                <a:spcPts val="2850"/>
              </a:lnSpc>
              <a:buNone/>
            </a:pPr>
            <a:r>
              <a:rPr lang="en-US" sz="1750" b="1" dirty="0">
                <a:solidFill>
                  <a:srgbClr val="CFD0D8"/>
                </a:solidFill>
                <a:latin typeface="Roboto" pitchFamily="34" charset="0"/>
                <a:ea typeface="Roboto" pitchFamily="34" charset="-122"/>
                <a:cs typeface="Roboto" pitchFamily="34" charset="-120"/>
              </a:rPr>
              <a:t>Course and Lecture Management:</a:t>
            </a:r>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 Register courses and schedule lectures.</a:t>
            </a:r>
            <a:endParaRPr lang="en-US" sz="17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84532" y="4979432"/>
            <a:ext cx="340162" cy="340162"/>
          </a:xfrm>
          <a:prstGeom prst="rect">
            <a:avLst/>
          </a:prstGeom>
        </p:spPr>
      </p:pic>
      <p:sp>
        <p:nvSpPr>
          <p:cNvPr id="13" name="Text 7"/>
          <p:cNvSpPr/>
          <p:nvPr/>
        </p:nvSpPr>
        <p:spPr>
          <a:xfrm>
            <a:off x="8336637" y="4968121"/>
            <a:ext cx="5507593" cy="725805"/>
          </a:xfrm>
          <a:prstGeom prst="rect">
            <a:avLst/>
          </a:prstGeom>
          <a:noFill/>
          <a:ln/>
        </p:spPr>
        <p:txBody>
          <a:bodyPr wrap="square" lIns="0" tIns="0" rIns="0" bIns="0" rtlCol="0" anchor="t"/>
          <a:lstStyle/>
          <a:p>
            <a:pPr algn="l" indent="0" marL="0">
              <a:lnSpc>
                <a:spcPts val="2850"/>
              </a:lnSpc>
              <a:buNone/>
            </a:pPr>
            <a:r>
              <a:rPr lang="en-US" sz="1750" b="1" dirty="0">
                <a:solidFill>
                  <a:srgbClr val="CFD0D8"/>
                </a:solidFill>
                <a:latin typeface="Roboto" pitchFamily="34" charset="0"/>
                <a:ea typeface="Roboto" pitchFamily="34" charset="-122"/>
                <a:cs typeface="Roboto" pitchFamily="34" charset="-120"/>
              </a:rPr>
              <a:t>Automated Attendance Reports:</a:t>
            </a:r>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 Receive instant reports after each lecture.</a:t>
            </a:r>
            <a:endParaRPr lang="en-US" sz="1750" dirty="0"/>
          </a:p>
        </p:txBody>
      </p:sp>
      <p:pic>
        <p:nvPicPr>
          <p:cNvPr id="14"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684532" y="6158865"/>
            <a:ext cx="340162" cy="340162"/>
          </a:xfrm>
          <a:prstGeom prst="rect">
            <a:avLst/>
          </a:prstGeom>
        </p:spPr>
      </p:pic>
      <p:sp>
        <p:nvSpPr>
          <p:cNvPr id="15" name="Text 8"/>
          <p:cNvSpPr/>
          <p:nvPr/>
        </p:nvSpPr>
        <p:spPr>
          <a:xfrm>
            <a:off x="8336637" y="6147554"/>
            <a:ext cx="5507593" cy="725805"/>
          </a:xfrm>
          <a:prstGeom prst="rect">
            <a:avLst/>
          </a:prstGeom>
          <a:noFill/>
          <a:ln/>
        </p:spPr>
        <p:txBody>
          <a:bodyPr wrap="square" lIns="0" tIns="0" rIns="0" bIns="0" rtlCol="0" anchor="t"/>
          <a:lstStyle/>
          <a:p>
            <a:pPr algn="l" indent="0" marL="0">
              <a:lnSpc>
                <a:spcPts val="2850"/>
              </a:lnSpc>
              <a:buNone/>
            </a:pPr>
            <a:r>
              <a:rPr lang="en-US" sz="1750" b="1" dirty="0">
                <a:solidFill>
                  <a:srgbClr val="CFD0D8"/>
                </a:solidFill>
                <a:latin typeface="Roboto" pitchFamily="34" charset="0"/>
                <a:ea typeface="Roboto" pitchFamily="34" charset="-122"/>
                <a:cs typeface="Roboto" pitchFamily="34" charset="-120"/>
              </a:rPr>
              <a:t>Engagement Statistics:</a:t>
            </a:r>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 Overview of student statistics and engagement.</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646873"/>
            <a:ext cx="6750844" cy="708779"/>
          </a:xfrm>
          <a:prstGeom prst="rect">
            <a:avLst/>
          </a:prstGeom>
          <a:noFill/>
          <a:ln/>
        </p:spPr>
        <p:txBody>
          <a:bodyPr wrap="none" lIns="0" tIns="0" rIns="0" bIns="0" rtlCol="0" anchor="t"/>
          <a:lstStyle/>
          <a:p>
            <a:pPr algn="l" indent="0" marL="0">
              <a:lnSpc>
                <a:spcPts val="5550"/>
              </a:lnSpc>
              <a:buNone/>
            </a:pPr>
            <a:r>
              <a:rPr lang="en-US" sz="4450" dirty="0">
                <a:solidFill>
                  <a:srgbClr val="FFFFFF"/>
                </a:solidFill>
                <a:latin typeface="Roboto Medium" pitchFamily="34" charset="0"/>
                <a:ea typeface="Roboto Medium" pitchFamily="34" charset="-122"/>
                <a:cs typeface="Roboto Medium" pitchFamily="34" charset="-120"/>
              </a:rPr>
              <a:t>Technical Pillar: AI Module</a:t>
            </a:r>
            <a:endParaRPr lang="en-US" sz="4450" dirty="0"/>
          </a:p>
        </p:txBody>
      </p:sp>
      <p:sp>
        <p:nvSpPr>
          <p:cNvPr id="3" name="Text 1"/>
          <p:cNvSpPr/>
          <p:nvPr/>
        </p:nvSpPr>
        <p:spPr>
          <a:xfrm>
            <a:off x="793790" y="2695813"/>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The AI module is the core innovation driving attendance automation.</a:t>
            </a:r>
            <a:endParaRPr lang="en-US" sz="17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3790" y="3313867"/>
            <a:ext cx="680442" cy="680442"/>
          </a:xfrm>
          <a:prstGeom prst="rect">
            <a:avLst/>
          </a:prstGeom>
        </p:spPr>
      </p:pic>
      <p:sp>
        <p:nvSpPr>
          <p:cNvPr id="5" name="Text 2"/>
          <p:cNvSpPr/>
          <p:nvPr/>
        </p:nvSpPr>
        <p:spPr>
          <a:xfrm>
            <a:off x="1757720" y="350520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Image Processing</a:t>
            </a:r>
            <a:endParaRPr lang="en-US" sz="2200" dirty="0"/>
          </a:p>
        </p:txBody>
      </p:sp>
      <p:sp>
        <p:nvSpPr>
          <p:cNvPr id="6" name="Text 3"/>
          <p:cNvSpPr/>
          <p:nvPr/>
        </p:nvSpPr>
        <p:spPr>
          <a:xfrm>
            <a:off x="1757720" y="3995618"/>
            <a:ext cx="5415677" cy="725805"/>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Images uploaded from the mobile application are processed through the backend.</a:t>
            </a:r>
            <a:endParaRPr lang="en-US" sz="17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56884" y="3313867"/>
            <a:ext cx="680442" cy="680442"/>
          </a:xfrm>
          <a:prstGeom prst="rect">
            <a:avLst/>
          </a:prstGeom>
        </p:spPr>
      </p:pic>
      <p:sp>
        <p:nvSpPr>
          <p:cNvPr id="8" name="Text 4"/>
          <p:cNvSpPr/>
          <p:nvPr/>
        </p:nvSpPr>
        <p:spPr>
          <a:xfrm>
            <a:off x="8420814" y="3505200"/>
            <a:ext cx="5386983"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Face Detection and Embedding Generation</a:t>
            </a:r>
            <a:endParaRPr lang="en-US" sz="2200" dirty="0"/>
          </a:p>
        </p:txBody>
      </p:sp>
      <p:sp>
        <p:nvSpPr>
          <p:cNvPr id="9" name="Text 5"/>
          <p:cNvSpPr/>
          <p:nvPr/>
        </p:nvSpPr>
        <p:spPr>
          <a:xfrm>
            <a:off x="8420814" y="3995618"/>
            <a:ext cx="5415796" cy="725805"/>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Faces are detected using InsightFace/OpenCV, and embedding vectors (Embeddings) are generated.</a:t>
            </a:r>
            <a:endParaRPr lang="en-US" sz="17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3790" y="5175052"/>
            <a:ext cx="680442" cy="680442"/>
          </a:xfrm>
          <a:prstGeom prst="rect">
            <a:avLst/>
          </a:prstGeom>
        </p:spPr>
      </p:pic>
      <p:sp>
        <p:nvSpPr>
          <p:cNvPr id="11" name="Text 6"/>
          <p:cNvSpPr/>
          <p:nvPr/>
        </p:nvSpPr>
        <p:spPr>
          <a:xfrm>
            <a:off x="1757720" y="536638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Embedding Matching</a:t>
            </a:r>
            <a:endParaRPr lang="en-US" sz="2200" dirty="0"/>
          </a:p>
        </p:txBody>
      </p:sp>
      <p:sp>
        <p:nvSpPr>
          <p:cNvPr id="12" name="Text 7"/>
          <p:cNvSpPr/>
          <p:nvPr/>
        </p:nvSpPr>
        <p:spPr>
          <a:xfrm>
            <a:off x="1757720" y="5856803"/>
            <a:ext cx="5415677" cy="725805"/>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Cosine Similarity matching is performed against stored vectors.</a:t>
            </a:r>
            <a:endParaRPr lang="en-US" sz="175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56884" y="5175052"/>
            <a:ext cx="680442" cy="680442"/>
          </a:xfrm>
          <a:prstGeom prst="rect">
            <a:avLst/>
          </a:prstGeom>
        </p:spPr>
      </p:pic>
      <p:sp>
        <p:nvSpPr>
          <p:cNvPr id="14" name="Text 8"/>
          <p:cNvSpPr/>
          <p:nvPr/>
        </p:nvSpPr>
        <p:spPr>
          <a:xfrm>
            <a:off x="8420814" y="5366385"/>
            <a:ext cx="3184803" cy="354330"/>
          </a:xfrm>
          <a:prstGeom prst="rect">
            <a:avLst/>
          </a:prstGeom>
          <a:noFill/>
          <a:ln/>
        </p:spPr>
        <p:txBody>
          <a:bodyPr wrap="none" lIns="0" tIns="0" rIns="0" bIns="0" rtlCol="0" anchor="t"/>
          <a:lstStyle/>
          <a:p>
            <a:pPr algn="l" indent="0" marL="0">
              <a:lnSpc>
                <a:spcPts val="2750"/>
              </a:lnSpc>
              <a:buNone/>
            </a:pPr>
            <a:r>
              <a:rPr lang="en-US" sz="2200" dirty="0">
                <a:solidFill>
                  <a:srgbClr val="CFD0D8"/>
                </a:solidFill>
                <a:latin typeface="Roboto Medium" pitchFamily="34" charset="0"/>
                <a:ea typeface="Roboto Medium" pitchFamily="34" charset="-122"/>
                <a:cs typeface="Roboto Medium" pitchFamily="34" charset="-120"/>
              </a:rPr>
              <a:t>Attendance Confirmation</a:t>
            </a:r>
            <a:endParaRPr lang="en-US" sz="2200" dirty="0"/>
          </a:p>
        </p:txBody>
      </p:sp>
      <p:sp>
        <p:nvSpPr>
          <p:cNvPr id="15" name="Text 9"/>
          <p:cNvSpPr/>
          <p:nvPr/>
        </p:nvSpPr>
        <p:spPr>
          <a:xfrm>
            <a:off x="8420814" y="5856803"/>
            <a:ext cx="5415796" cy="725805"/>
          </a:xfrm>
          <a:prstGeom prst="rect">
            <a:avLst/>
          </a:prstGeom>
          <a:noFill/>
          <a:ln/>
        </p:spPr>
        <p:txBody>
          <a:bodyPr wrap="squar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Attendance is automatically recorded based on exceeding defined similarity thresholds.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667226"/>
            <a:ext cx="7915037" cy="708779"/>
          </a:xfrm>
          <a:prstGeom prst="rect">
            <a:avLst/>
          </a:prstGeom>
          <a:noFill/>
          <a:ln/>
        </p:spPr>
        <p:txBody>
          <a:bodyPr wrap="none" lIns="0" tIns="0" rIns="0" bIns="0" rtlCol="0" anchor="t"/>
          <a:lstStyle/>
          <a:p>
            <a:pPr algn="l" indent="0" marL="0">
              <a:lnSpc>
                <a:spcPts val="5550"/>
              </a:lnSpc>
              <a:buNone/>
            </a:pPr>
            <a:r>
              <a:rPr lang="en-US" sz="4450" dirty="0">
                <a:solidFill>
                  <a:srgbClr val="FFFFFF"/>
                </a:solidFill>
                <a:latin typeface="Roboto Medium" pitchFamily="34" charset="0"/>
                <a:ea typeface="Roboto Medium" pitchFamily="34" charset="-122"/>
                <a:cs typeface="Roboto Medium" pitchFamily="34" charset="-120"/>
              </a:rPr>
              <a:t>Detailed Data Flow: Registering</a:t>
            </a:r>
            <a:endParaRPr lang="en-US" sz="4450" dirty="0"/>
          </a:p>
        </p:txBody>
      </p:sp>
      <p:pic>
        <p:nvPicPr>
          <p:cNvPr id="3" name="Image 0" descr="preencoded.png">    </p:cNvPr>
          <p:cNvPicPr>
            <a:picLocks noChangeAspect="1"/>
          </p:cNvPicPr>
          <p:nvPr/>
        </p:nvPicPr>
        <p:blipFill>
          <a:blip r:embed="rId1"/>
          <a:stretch>
            <a:fillRect/>
          </a:stretch>
        </p:blipFill>
        <p:spPr>
          <a:xfrm>
            <a:off x="793790" y="1829633"/>
            <a:ext cx="13042583" cy="5114687"/>
          </a:xfrm>
          <a:prstGeom prst="rect">
            <a:avLst/>
          </a:prstGeom>
        </p:spPr>
      </p:pic>
      <p:sp>
        <p:nvSpPr>
          <p:cNvPr id="4" name="Text 1"/>
          <p:cNvSpPr/>
          <p:nvPr/>
        </p:nvSpPr>
        <p:spPr>
          <a:xfrm>
            <a:off x="793790" y="7199471"/>
            <a:ext cx="13042821" cy="362903"/>
          </a:xfrm>
          <a:prstGeom prst="rect">
            <a:avLst/>
          </a:prstGeom>
          <a:noFill/>
          <a:ln/>
        </p:spPr>
        <p:txBody>
          <a:bodyPr wrap="none" lIns="0" tIns="0" rIns="0" bIns="0" rtlCol="0" anchor="t"/>
          <a:lstStyle/>
          <a:p>
            <a:pPr algn="l" indent="0" marL="0">
              <a:lnSpc>
                <a:spcPts val="2850"/>
              </a:lnSpc>
              <a:buNone/>
            </a:pP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8290" y="478036"/>
            <a:ext cx="6983254" cy="543163"/>
          </a:xfrm>
          <a:prstGeom prst="rect">
            <a:avLst/>
          </a:prstGeom>
          <a:noFill/>
          <a:ln/>
        </p:spPr>
        <p:txBody>
          <a:bodyPr wrap="none" lIns="0" tIns="0" rIns="0" bIns="0" rtlCol="0" anchor="t"/>
          <a:lstStyle/>
          <a:p>
            <a:pPr algn="l" indent="0" marL="0">
              <a:lnSpc>
                <a:spcPts val="4250"/>
              </a:lnSpc>
              <a:buNone/>
            </a:pPr>
            <a:r>
              <a:rPr lang="en-US" sz="3400" dirty="0">
                <a:solidFill>
                  <a:srgbClr val="FFFFFF"/>
                </a:solidFill>
                <a:latin typeface="Roboto Medium" pitchFamily="34" charset="0"/>
                <a:ea typeface="Roboto Medium" pitchFamily="34" charset="-122"/>
                <a:cs typeface="Roboto Medium" pitchFamily="34" charset="-120"/>
              </a:rPr>
              <a:t>Detailed Data Flow: Face Enrollment</a:t>
            </a:r>
            <a:endParaRPr lang="en-US" sz="3400" dirty="0"/>
          </a:p>
        </p:txBody>
      </p:sp>
      <p:sp>
        <p:nvSpPr>
          <p:cNvPr id="3" name="Text 1"/>
          <p:cNvSpPr/>
          <p:nvPr/>
        </p:nvSpPr>
        <p:spPr>
          <a:xfrm>
            <a:off x="608290" y="1368743"/>
            <a:ext cx="13413819" cy="278130"/>
          </a:xfrm>
          <a:prstGeom prst="rect">
            <a:avLst/>
          </a:prstGeom>
          <a:noFill/>
          <a:ln/>
        </p:spPr>
        <p:txBody>
          <a:bodyPr wrap="none" lIns="0" tIns="0" rIns="0" bIns="0" rtlCol="0" anchor="t"/>
          <a:lstStyle/>
          <a:p>
            <a:pPr algn="l" indent="0" marL="0">
              <a:lnSpc>
                <a:spcPts val="2150"/>
              </a:lnSpc>
              <a:buNone/>
            </a:pPr>
            <a:r>
              <a:rPr lang="en-US" sz="1350" dirty="0">
                <a:solidFill>
                  <a:srgbClr val="CFD0D8"/>
                </a:solidFill>
                <a:latin typeface="Roboto" pitchFamily="34" charset="0"/>
                <a:ea typeface="Roboto" pitchFamily="34" charset="-122"/>
                <a:cs typeface="Roboto" pitchFamily="34" charset="-120"/>
              </a:rPr>
              <a:t>Steps to convert captured images into embedding vectors usable in the database.</a:t>
            </a:r>
            <a:endParaRPr lang="en-US" sz="1350" dirty="0"/>
          </a:p>
        </p:txBody>
      </p:sp>
      <p:pic>
        <p:nvPicPr>
          <p:cNvPr id="4" name="Image 0" descr="preencoded.png">    </p:cNvPr>
          <p:cNvPicPr>
            <a:picLocks noChangeAspect="1"/>
          </p:cNvPicPr>
          <p:nvPr/>
        </p:nvPicPr>
        <p:blipFill>
          <a:blip r:embed="rId1"/>
          <a:stretch>
            <a:fillRect/>
          </a:stretch>
        </p:blipFill>
        <p:spPr>
          <a:xfrm>
            <a:off x="608290" y="1842373"/>
            <a:ext cx="521375" cy="1143000"/>
          </a:xfrm>
          <a:prstGeom prst="rect">
            <a:avLst/>
          </a:prstGeom>
        </p:spPr>
      </p:pic>
      <p:sp>
        <p:nvSpPr>
          <p:cNvPr id="5" name="Text 2"/>
          <p:cNvSpPr/>
          <p:nvPr/>
        </p:nvSpPr>
        <p:spPr>
          <a:xfrm>
            <a:off x="1303377" y="2016085"/>
            <a:ext cx="2172653" cy="271582"/>
          </a:xfrm>
          <a:prstGeom prst="rect">
            <a:avLst/>
          </a:prstGeom>
          <a:noFill/>
          <a:ln/>
        </p:spPr>
        <p:txBody>
          <a:bodyPr wrap="none" lIns="0" tIns="0" rIns="0" bIns="0" rtlCol="0" anchor="t"/>
          <a:lstStyle/>
          <a:p>
            <a:pPr algn="l" indent="0" marL="0">
              <a:lnSpc>
                <a:spcPts val="2100"/>
              </a:lnSpc>
              <a:buNone/>
            </a:pPr>
            <a:r>
              <a:rPr lang="en-US" sz="1700" dirty="0">
                <a:solidFill>
                  <a:srgbClr val="CFD0D8"/>
                </a:solidFill>
                <a:latin typeface="Roboto Medium" pitchFamily="34" charset="0"/>
                <a:ea typeface="Roboto Medium" pitchFamily="34" charset="-122"/>
                <a:cs typeface="Roboto Medium" pitchFamily="34" charset="-120"/>
              </a:rPr>
              <a:t>Capture Images</a:t>
            </a:r>
            <a:endParaRPr lang="en-US" sz="1700" dirty="0"/>
          </a:p>
        </p:txBody>
      </p:sp>
      <p:sp>
        <p:nvSpPr>
          <p:cNvPr id="6" name="Text 3"/>
          <p:cNvSpPr/>
          <p:nvPr/>
        </p:nvSpPr>
        <p:spPr>
          <a:xfrm>
            <a:off x="1303377" y="2391847"/>
            <a:ext cx="12718733" cy="278130"/>
          </a:xfrm>
          <a:prstGeom prst="rect">
            <a:avLst/>
          </a:prstGeom>
          <a:noFill/>
          <a:ln/>
        </p:spPr>
        <p:txBody>
          <a:bodyPr wrap="none" lIns="0" tIns="0" rIns="0" bIns="0" rtlCol="0" anchor="t"/>
          <a:lstStyle/>
          <a:p>
            <a:pPr algn="l" indent="0" marL="0">
              <a:lnSpc>
                <a:spcPts val="2150"/>
              </a:lnSpc>
              <a:buNone/>
            </a:pPr>
            <a:r>
              <a:rPr lang="en-US" sz="1350" dirty="0">
                <a:solidFill>
                  <a:srgbClr val="CFD0D8"/>
                </a:solidFill>
                <a:latin typeface="Roboto" pitchFamily="34" charset="0"/>
                <a:ea typeface="Roboto" pitchFamily="34" charset="-122"/>
                <a:cs typeface="Roboto" pitchFamily="34" charset="-120"/>
              </a:rPr>
              <a:t>The mobile application captures 5 face images (from different angles).</a:t>
            </a:r>
            <a:endParaRPr lang="en-US" sz="1350" dirty="0"/>
          </a:p>
        </p:txBody>
      </p:sp>
      <p:pic>
        <p:nvPicPr>
          <p:cNvPr id="7" name="Image 1" descr="preencoded.png">    </p:cNvPr>
          <p:cNvPicPr>
            <a:picLocks noChangeAspect="1"/>
          </p:cNvPicPr>
          <p:nvPr/>
        </p:nvPicPr>
        <p:blipFill>
          <a:blip r:embed="rId2"/>
          <a:stretch>
            <a:fillRect/>
          </a:stretch>
        </p:blipFill>
        <p:spPr>
          <a:xfrm>
            <a:off x="868918" y="3058954"/>
            <a:ext cx="521375" cy="1143000"/>
          </a:xfrm>
          <a:prstGeom prst="rect">
            <a:avLst/>
          </a:prstGeom>
        </p:spPr>
      </p:pic>
      <p:sp>
        <p:nvSpPr>
          <p:cNvPr id="8" name="Text 4"/>
          <p:cNvSpPr/>
          <p:nvPr/>
        </p:nvSpPr>
        <p:spPr>
          <a:xfrm>
            <a:off x="1564005" y="3232666"/>
            <a:ext cx="2172653" cy="271582"/>
          </a:xfrm>
          <a:prstGeom prst="rect">
            <a:avLst/>
          </a:prstGeom>
          <a:noFill/>
          <a:ln/>
        </p:spPr>
        <p:txBody>
          <a:bodyPr wrap="none" lIns="0" tIns="0" rIns="0" bIns="0" rtlCol="0" anchor="t"/>
          <a:lstStyle/>
          <a:p>
            <a:pPr algn="l" indent="0" marL="0">
              <a:lnSpc>
                <a:spcPts val="2100"/>
              </a:lnSpc>
              <a:buNone/>
            </a:pPr>
            <a:r>
              <a:rPr lang="en-US" sz="1700" dirty="0">
                <a:solidFill>
                  <a:srgbClr val="CFD0D8"/>
                </a:solidFill>
                <a:latin typeface="Roboto Medium" pitchFamily="34" charset="0"/>
                <a:ea typeface="Roboto Medium" pitchFamily="34" charset="-122"/>
                <a:cs typeface="Roboto Medium" pitchFamily="34" charset="-120"/>
              </a:rPr>
              <a:t>Convert to Base64</a:t>
            </a:r>
            <a:endParaRPr lang="en-US" sz="1700" dirty="0"/>
          </a:p>
        </p:txBody>
      </p:sp>
      <p:sp>
        <p:nvSpPr>
          <p:cNvPr id="9" name="Text 5"/>
          <p:cNvSpPr/>
          <p:nvPr/>
        </p:nvSpPr>
        <p:spPr>
          <a:xfrm>
            <a:off x="1564005" y="3608427"/>
            <a:ext cx="12458105" cy="285750"/>
          </a:xfrm>
          <a:prstGeom prst="rect">
            <a:avLst/>
          </a:prstGeom>
          <a:noFill/>
          <a:ln/>
        </p:spPr>
        <p:txBody>
          <a:bodyPr wrap="none" lIns="0" tIns="0" rIns="0" bIns="0" rtlCol="0" anchor="t"/>
          <a:lstStyle/>
          <a:p>
            <a:pPr algn="l" indent="0" marL="0">
              <a:lnSpc>
                <a:spcPts val="2150"/>
              </a:lnSpc>
              <a:buNone/>
            </a:pPr>
            <a:r>
              <a:rPr lang="en-US" sz="1350" dirty="0">
                <a:solidFill>
                  <a:srgbClr val="CFD0D8"/>
                </a:solidFill>
                <a:latin typeface="Roboto" pitchFamily="34" charset="0"/>
                <a:ea typeface="Roboto" pitchFamily="34" charset="-122"/>
                <a:cs typeface="Roboto" pitchFamily="34" charset="-120"/>
              </a:rPr>
              <a:t>Images are converted to Base64 strings for sending via </a:t>
            </a:r>
            <a:pPr algn="l" indent="0" marL="0">
              <a:lnSpc>
                <a:spcPts val="2150"/>
              </a:lnSpc>
              <a:buNone/>
            </a:pPr>
            <a:r>
              <a:rPr lang="en-US" sz="1350" dirty="0">
                <a:solidFill>
                  <a:srgbClr val="CFD0D8"/>
                </a:solidFill>
                <a:highlight>
                  <a:srgbClr val="0D0D25"/>
                </a:highlight>
                <a:latin typeface="Consolas" pitchFamily="34" charset="0"/>
                <a:ea typeface="Consolas" pitchFamily="34" charset="-122"/>
                <a:cs typeface="Consolas" pitchFamily="34" charset="-120"/>
              </a:rPr>
              <a:t>POST /enroll</a:t>
            </a:r>
            <a:pPr algn="l" indent="0" marL="0">
              <a:lnSpc>
                <a:spcPts val="2150"/>
              </a:lnSpc>
              <a:buNone/>
            </a:pPr>
            <a:r>
              <a:rPr lang="en-US" sz="1350" dirty="0">
                <a:solidFill>
                  <a:srgbClr val="CFD0D8"/>
                </a:solidFill>
                <a:latin typeface="Roboto" pitchFamily="34" charset="0"/>
                <a:ea typeface="Roboto" pitchFamily="34" charset="-122"/>
                <a:cs typeface="Roboto" pitchFamily="34" charset="-120"/>
              </a:rPr>
              <a:t>.</a:t>
            </a:r>
            <a:endParaRPr lang="en-US" sz="1350" dirty="0"/>
          </a:p>
        </p:txBody>
      </p:sp>
      <p:pic>
        <p:nvPicPr>
          <p:cNvPr id="10" name="Image 2" descr="preencoded.png">    </p:cNvPr>
          <p:cNvPicPr>
            <a:picLocks noChangeAspect="1"/>
          </p:cNvPicPr>
          <p:nvPr/>
        </p:nvPicPr>
        <p:blipFill>
          <a:blip r:embed="rId3"/>
          <a:stretch>
            <a:fillRect/>
          </a:stretch>
        </p:blipFill>
        <p:spPr>
          <a:xfrm>
            <a:off x="1129665" y="4275534"/>
            <a:ext cx="521375" cy="1143000"/>
          </a:xfrm>
          <a:prstGeom prst="rect">
            <a:avLst/>
          </a:prstGeom>
        </p:spPr>
      </p:pic>
      <p:sp>
        <p:nvSpPr>
          <p:cNvPr id="11" name="Text 6"/>
          <p:cNvSpPr/>
          <p:nvPr/>
        </p:nvSpPr>
        <p:spPr>
          <a:xfrm>
            <a:off x="1824752" y="4449247"/>
            <a:ext cx="2172653" cy="271582"/>
          </a:xfrm>
          <a:prstGeom prst="rect">
            <a:avLst/>
          </a:prstGeom>
          <a:noFill/>
          <a:ln/>
        </p:spPr>
        <p:txBody>
          <a:bodyPr wrap="none" lIns="0" tIns="0" rIns="0" bIns="0" rtlCol="0" anchor="t"/>
          <a:lstStyle/>
          <a:p>
            <a:pPr algn="l" indent="0" marL="0">
              <a:lnSpc>
                <a:spcPts val="2100"/>
              </a:lnSpc>
              <a:buNone/>
            </a:pPr>
            <a:r>
              <a:rPr lang="en-US" sz="1700" dirty="0">
                <a:solidFill>
                  <a:srgbClr val="CFD0D8"/>
                </a:solidFill>
                <a:latin typeface="Roboto Medium" pitchFamily="34" charset="0"/>
                <a:ea typeface="Roboto Medium" pitchFamily="34" charset="-122"/>
                <a:cs typeface="Roboto Medium" pitchFamily="34" charset="-120"/>
              </a:rPr>
              <a:t>Decode and Process</a:t>
            </a:r>
            <a:endParaRPr lang="en-US" sz="1700" dirty="0"/>
          </a:p>
        </p:txBody>
      </p:sp>
      <p:sp>
        <p:nvSpPr>
          <p:cNvPr id="12" name="Text 7"/>
          <p:cNvSpPr/>
          <p:nvPr/>
        </p:nvSpPr>
        <p:spPr>
          <a:xfrm>
            <a:off x="1824752" y="4825008"/>
            <a:ext cx="12197358" cy="278130"/>
          </a:xfrm>
          <a:prstGeom prst="rect">
            <a:avLst/>
          </a:prstGeom>
          <a:noFill/>
          <a:ln/>
        </p:spPr>
        <p:txBody>
          <a:bodyPr wrap="none" lIns="0" tIns="0" rIns="0" bIns="0" rtlCol="0" anchor="t"/>
          <a:lstStyle/>
          <a:p>
            <a:pPr algn="l" indent="0" marL="0">
              <a:lnSpc>
                <a:spcPts val="2150"/>
              </a:lnSpc>
              <a:buNone/>
            </a:pPr>
            <a:r>
              <a:rPr lang="en-US" sz="1350" dirty="0">
                <a:solidFill>
                  <a:srgbClr val="CFD0D8"/>
                </a:solidFill>
                <a:latin typeface="Roboto" pitchFamily="34" charset="0"/>
                <a:ea typeface="Roboto" pitchFamily="34" charset="-122"/>
                <a:cs typeface="Roboto" pitchFamily="34" charset="-120"/>
              </a:rPr>
              <a:t>AI Module decodes Base64 using OpenCV in the backend.</a:t>
            </a:r>
            <a:endParaRPr lang="en-US" sz="1350" dirty="0"/>
          </a:p>
        </p:txBody>
      </p:sp>
      <p:pic>
        <p:nvPicPr>
          <p:cNvPr id="13" name="Image 3" descr="preencoded.png">    </p:cNvPr>
          <p:cNvPicPr>
            <a:picLocks noChangeAspect="1"/>
          </p:cNvPicPr>
          <p:nvPr/>
        </p:nvPicPr>
        <p:blipFill>
          <a:blip r:embed="rId4"/>
          <a:stretch>
            <a:fillRect/>
          </a:stretch>
        </p:blipFill>
        <p:spPr>
          <a:xfrm>
            <a:off x="1390412" y="5492115"/>
            <a:ext cx="521375" cy="1143000"/>
          </a:xfrm>
          <a:prstGeom prst="rect">
            <a:avLst/>
          </a:prstGeom>
        </p:spPr>
      </p:pic>
      <p:sp>
        <p:nvSpPr>
          <p:cNvPr id="14" name="Text 8"/>
          <p:cNvSpPr/>
          <p:nvPr/>
        </p:nvSpPr>
        <p:spPr>
          <a:xfrm>
            <a:off x="2085499" y="5665827"/>
            <a:ext cx="2172653" cy="271582"/>
          </a:xfrm>
          <a:prstGeom prst="rect">
            <a:avLst/>
          </a:prstGeom>
          <a:noFill/>
          <a:ln/>
        </p:spPr>
        <p:txBody>
          <a:bodyPr wrap="none" lIns="0" tIns="0" rIns="0" bIns="0" rtlCol="0" anchor="t"/>
          <a:lstStyle/>
          <a:p>
            <a:pPr algn="l" indent="0" marL="0">
              <a:lnSpc>
                <a:spcPts val="2100"/>
              </a:lnSpc>
              <a:buNone/>
            </a:pPr>
            <a:r>
              <a:rPr lang="en-US" sz="1700" dirty="0">
                <a:solidFill>
                  <a:srgbClr val="CFD0D8"/>
                </a:solidFill>
                <a:latin typeface="Roboto Medium" pitchFamily="34" charset="0"/>
                <a:ea typeface="Roboto Medium" pitchFamily="34" charset="-122"/>
                <a:cs typeface="Roboto Medium" pitchFamily="34" charset="-120"/>
              </a:rPr>
              <a:t>Generate Embeddings</a:t>
            </a:r>
            <a:endParaRPr lang="en-US" sz="1700" dirty="0"/>
          </a:p>
        </p:txBody>
      </p:sp>
      <p:sp>
        <p:nvSpPr>
          <p:cNvPr id="15" name="Text 9"/>
          <p:cNvSpPr/>
          <p:nvPr/>
        </p:nvSpPr>
        <p:spPr>
          <a:xfrm>
            <a:off x="2085499" y="6041588"/>
            <a:ext cx="11936611" cy="278130"/>
          </a:xfrm>
          <a:prstGeom prst="rect">
            <a:avLst/>
          </a:prstGeom>
          <a:noFill/>
          <a:ln/>
        </p:spPr>
        <p:txBody>
          <a:bodyPr wrap="none" lIns="0" tIns="0" rIns="0" bIns="0" rtlCol="0" anchor="t"/>
          <a:lstStyle/>
          <a:p>
            <a:pPr algn="l" indent="0" marL="0">
              <a:lnSpc>
                <a:spcPts val="2150"/>
              </a:lnSpc>
              <a:buNone/>
            </a:pPr>
            <a:r>
              <a:rPr lang="en-US" sz="1350" dirty="0">
                <a:solidFill>
                  <a:srgbClr val="CFD0D8"/>
                </a:solidFill>
                <a:latin typeface="Roboto" pitchFamily="34" charset="0"/>
                <a:ea typeface="Roboto" pitchFamily="34" charset="-122"/>
                <a:cs typeface="Roboto" pitchFamily="34" charset="-120"/>
              </a:rPr>
              <a:t>InsightFace is used to generate embedding vectors for each image.</a:t>
            </a:r>
            <a:endParaRPr lang="en-US" sz="1350" dirty="0"/>
          </a:p>
        </p:txBody>
      </p:sp>
      <p:pic>
        <p:nvPicPr>
          <p:cNvPr id="16" name="Image 4" descr="preencoded.png">    </p:cNvPr>
          <p:cNvPicPr>
            <a:picLocks noChangeAspect="1"/>
          </p:cNvPicPr>
          <p:nvPr/>
        </p:nvPicPr>
        <p:blipFill>
          <a:blip r:embed="rId5"/>
          <a:stretch>
            <a:fillRect/>
          </a:stretch>
        </p:blipFill>
        <p:spPr>
          <a:xfrm>
            <a:off x="1129665" y="6708696"/>
            <a:ext cx="521375" cy="1143000"/>
          </a:xfrm>
          <a:prstGeom prst="rect">
            <a:avLst/>
          </a:prstGeom>
        </p:spPr>
      </p:pic>
      <p:sp>
        <p:nvSpPr>
          <p:cNvPr id="17" name="Text 10"/>
          <p:cNvSpPr/>
          <p:nvPr/>
        </p:nvSpPr>
        <p:spPr>
          <a:xfrm>
            <a:off x="1824752" y="6882408"/>
            <a:ext cx="2172653" cy="271582"/>
          </a:xfrm>
          <a:prstGeom prst="rect">
            <a:avLst/>
          </a:prstGeom>
          <a:noFill/>
          <a:ln/>
        </p:spPr>
        <p:txBody>
          <a:bodyPr wrap="none" lIns="0" tIns="0" rIns="0" bIns="0" rtlCol="0" anchor="t"/>
          <a:lstStyle/>
          <a:p>
            <a:pPr algn="l" indent="0" marL="0">
              <a:lnSpc>
                <a:spcPts val="2100"/>
              </a:lnSpc>
              <a:buNone/>
            </a:pPr>
            <a:r>
              <a:rPr lang="en-US" sz="1700" dirty="0">
                <a:solidFill>
                  <a:srgbClr val="CFD0D8"/>
                </a:solidFill>
                <a:latin typeface="Roboto Medium" pitchFamily="34" charset="0"/>
                <a:ea typeface="Roboto Medium" pitchFamily="34" charset="-122"/>
                <a:cs typeface="Roboto Medium" pitchFamily="34" charset="-120"/>
              </a:rPr>
              <a:t>Store Data</a:t>
            </a:r>
            <a:endParaRPr lang="en-US" sz="1700" dirty="0"/>
          </a:p>
        </p:txBody>
      </p:sp>
      <p:sp>
        <p:nvSpPr>
          <p:cNvPr id="18" name="Text 11"/>
          <p:cNvSpPr/>
          <p:nvPr/>
        </p:nvSpPr>
        <p:spPr>
          <a:xfrm>
            <a:off x="1824752" y="7258169"/>
            <a:ext cx="12197358" cy="285750"/>
          </a:xfrm>
          <a:prstGeom prst="rect">
            <a:avLst/>
          </a:prstGeom>
          <a:noFill/>
          <a:ln/>
        </p:spPr>
        <p:txBody>
          <a:bodyPr wrap="none" lIns="0" tIns="0" rIns="0" bIns="0" rtlCol="0" anchor="t"/>
          <a:lstStyle/>
          <a:p>
            <a:pPr algn="l" indent="0" marL="0">
              <a:lnSpc>
                <a:spcPts val="2150"/>
              </a:lnSpc>
              <a:buNone/>
            </a:pPr>
            <a:r>
              <a:rPr lang="en-US" sz="1350" dirty="0">
                <a:solidFill>
                  <a:srgbClr val="CFD0D8"/>
                </a:solidFill>
                <a:latin typeface="Roboto" pitchFamily="34" charset="0"/>
                <a:ea typeface="Roboto" pitchFamily="34" charset="-122"/>
                <a:cs typeface="Roboto" pitchFamily="34" charset="-120"/>
              </a:rPr>
              <a:t>Embeddings are converted to JSON strings and stored in the embeddings table linked to </a:t>
            </a:r>
            <a:pPr algn="l" indent="0" marL="0">
              <a:lnSpc>
                <a:spcPts val="2150"/>
              </a:lnSpc>
              <a:buNone/>
            </a:pPr>
            <a:r>
              <a:rPr lang="en-US" sz="1350" dirty="0">
                <a:solidFill>
                  <a:srgbClr val="CFD0D8"/>
                </a:solidFill>
                <a:highlight>
                  <a:srgbClr val="0D0D25"/>
                </a:highlight>
                <a:latin typeface="Consolas" pitchFamily="34" charset="0"/>
                <a:ea typeface="Consolas" pitchFamily="34" charset="-122"/>
                <a:cs typeface="Consolas" pitchFamily="34" charset="-120"/>
              </a:rPr>
              <a:t>user_id</a:t>
            </a:r>
            <a:pPr algn="l" indent="0" marL="0">
              <a:lnSpc>
                <a:spcPts val="2150"/>
              </a:lnSpc>
              <a:buNone/>
            </a:pPr>
            <a:r>
              <a:rPr lang="en-US" sz="1350" dirty="0">
                <a:solidFill>
                  <a:srgbClr val="CFD0D8"/>
                </a:solidFill>
                <a:latin typeface="Roboto" pitchFamily="34" charset="0"/>
                <a:ea typeface="Roboto" pitchFamily="34" charset="-122"/>
                <a:cs typeface="Roboto" pitchFamily="34" charset="-120"/>
              </a:rPr>
              <a:t>.</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2277428"/>
            <a:ext cx="13042821" cy="362903"/>
          </a:xfrm>
          <a:prstGeom prst="rect">
            <a:avLst/>
          </a:prstGeom>
          <a:noFill/>
          <a:ln/>
        </p:spPr>
        <p:txBody>
          <a:bodyPr wrap="none" lIns="0" tIns="0" rIns="0" bIns="0" rtlCol="0" anchor="t"/>
          <a:lstStyle/>
          <a:p>
            <a:pPr algn="l" indent="0" marL="0">
              <a:lnSpc>
                <a:spcPts val="2850"/>
              </a:lnSpc>
              <a:buNone/>
            </a:pPr>
            <a:endParaRPr lang="en-US" sz="1750" dirty="0"/>
          </a:p>
        </p:txBody>
      </p:sp>
      <p:pic>
        <p:nvPicPr>
          <p:cNvPr id="3" name="Image 0" descr="preencoded.png">    </p:cNvPr>
          <p:cNvPicPr>
            <a:picLocks noChangeAspect="1"/>
          </p:cNvPicPr>
          <p:nvPr/>
        </p:nvPicPr>
        <p:blipFill>
          <a:blip r:embed="rId1"/>
          <a:stretch>
            <a:fillRect/>
          </a:stretch>
        </p:blipFill>
        <p:spPr>
          <a:xfrm>
            <a:off x="793790" y="2895481"/>
            <a:ext cx="13042583" cy="326064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128474"/>
            <a:ext cx="6431637" cy="708779"/>
          </a:xfrm>
          <a:prstGeom prst="rect">
            <a:avLst/>
          </a:prstGeom>
          <a:noFill/>
          <a:ln/>
        </p:spPr>
        <p:txBody>
          <a:bodyPr wrap="none" lIns="0" tIns="0" rIns="0" bIns="0" rtlCol="0" anchor="t"/>
          <a:lstStyle/>
          <a:p>
            <a:pPr algn="l" indent="0" marL="0">
              <a:lnSpc>
                <a:spcPts val="5550"/>
              </a:lnSpc>
              <a:buNone/>
            </a:pPr>
            <a:r>
              <a:rPr lang="en-US" sz="4450" dirty="0">
                <a:solidFill>
                  <a:srgbClr val="FFFFFF"/>
                </a:solidFill>
                <a:latin typeface="Roboto Medium" pitchFamily="34" charset="0"/>
                <a:ea typeface="Roboto Medium" pitchFamily="34" charset="-122"/>
                <a:cs typeface="Roboto Medium" pitchFamily="34" charset="-120"/>
              </a:rPr>
              <a:t>Detailed Data Flow: Login</a:t>
            </a:r>
            <a:endParaRPr lang="en-US" sz="4450" dirty="0"/>
          </a:p>
        </p:txBody>
      </p:sp>
      <p:pic>
        <p:nvPicPr>
          <p:cNvPr id="3" name="Image 0" descr="preencoded.png">    </p:cNvPr>
          <p:cNvPicPr>
            <a:picLocks noChangeAspect="1"/>
          </p:cNvPicPr>
          <p:nvPr/>
        </p:nvPicPr>
        <p:blipFill>
          <a:blip r:embed="rId1"/>
          <a:stretch>
            <a:fillRect/>
          </a:stretch>
        </p:blipFill>
        <p:spPr>
          <a:xfrm>
            <a:off x="793790" y="2290882"/>
            <a:ext cx="13042583" cy="4192191"/>
          </a:xfrm>
          <a:prstGeom prst="rect">
            <a:avLst/>
          </a:prstGeom>
        </p:spPr>
      </p:pic>
      <p:sp>
        <p:nvSpPr>
          <p:cNvPr id="4" name="Text 1"/>
          <p:cNvSpPr/>
          <p:nvPr/>
        </p:nvSpPr>
        <p:spPr>
          <a:xfrm>
            <a:off x="793790" y="6738223"/>
            <a:ext cx="13042821" cy="362903"/>
          </a:xfrm>
          <a:prstGeom prst="rect">
            <a:avLst/>
          </a:prstGeom>
          <a:noFill/>
          <a:ln/>
        </p:spPr>
        <p:txBody>
          <a:bodyPr wrap="none" lIns="0" tIns="0" rIns="0" bIns="0" rtlCol="0" anchor="t"/>
          <a:lstStyle/>
          <a:p>
            <a:pPr algn="l" indent="0" marL="0">
              <a:lnSpc>
                <a:spcPts val="2850"/>
              </a:lnSpc>
              <a:buNone/>
            </a:pP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24138" y="580073"/>
            <a:ext cx="8894326" cy="646509"/>
          </a:xfrm>
          <a:prstGeom prst="rect">
            <a:avLst/>
          </a:prstGeom>
          <a:noFill/>
          <a:ln/>
        </p:spPr>
        <p:txBody>
          <a:bodyPr wrap="none" lIns="0" tIns="0" rIns="0" bIns="0" rtlCol="0" anchor="t"/>
          <a:lstStyle/>
          <a:p>
            <a:pPr algn="l" indent="0" marL="0">
              <a:lnSpc>
                <a:spcPts val="5050"/>
              </a:lnSpc>
              <a:buNone/>
            </a:pPr>
            <a:r>
              <a:rPr lang="en-US" sz="4050" dirty="0">
                <a:solidFill>
                  <a:srgbClr val="FFFFFF"/>
                </a:solidFill>
                <a:latin typeface="Roboto Medium" pitchFamily="34" charset="0"/>
                <a:ea typeface="Roboto Medium" pitchFamily="34" charset="-122"/>
                <a:cs typeface="Roboto Medium" pitchFamily="34" charset="-120"/>
              </a:rPr>
              <a:t>Detailed Data Flow: Taking Attendance</a:t>
            </a:r>
            <a:endParaRPr lang="en-US" sz="4050" dirty="0"/>
          </a:p>
        </p:txBody>
      </p:sp>
      <p:sp>
        <p:nvSpPr>
          <p:cNvPr id="3" name="Text 1"/>
          <p:cNvSpPr/>
          <p:nvPr/>
        </p:nvSpPr>
        <p:spPr>
          <a:xfrm>
            <a:off x="724138" y="1640324"/>
            <a:ext cx="13182124" cy="330994"/>
          </a:xfrm>
          <a:prstGeom prst="rect">
            <a:avLst/>
          </a:prstGeom>
          <a:noFill/>
          <a:ln/>
        </p:spPr>
        <p:txBody>
          <a:bodyPr wrap="none" lIns="0" tIns="0" rIns="0" bIns="0" rtlCol="0" anchor="t"/>
          <a:lstStyle/>
          <a:p>
            <a:pPr algn="l" indent="0" marL="0">
              <a:lnSpc>
                <a:spcPts val="2600"/>
              </a:lnSpc>
              <a:buNone/>
            </a:pPr>
            <a:r>
              <a:rPr lang="en-US" sz="1600" dirty="0">
                <a:solidFill>
                  <a:srgbClr val="CFD0D8"/>
                </a:solidFill>
                <a:latin typeface="Roboto" pitchFamily="34" charset="0"/>
                <a:ea typeface="Roboto" pitchFamily="34" charset="-122"/>
                <a:cs typeface="Roboto" pitchFamily="34" charset="-120"/>
              </a:rPr>
              <a:t>A step-by-step process outlining how the attendance system operates.</a:t>
            </a:r>
            <a:endParaRPr lang="en-US" sz="1600" dirty="0"/>
          </a:p>
        </p:txBody>
      </p:sp>
      <p:pic>
        <p:nvPicPr>
          <p:cNvPr id="4" name="Image 0" descr="preencoded.png">    </p:cNvPr>
          <p:cNvPicPr>
            <a:picLocks noChangeAspect="1"/>
          </p:cNvPicPr>
          <p:nvPr/>
        </p:nvPicPr>
        <p:blipFill>
          <a:blip r:embed="rId1"/>
          <a:stretch>
            <a:fillRect/>
          </a:stretch>
        </p:blipFill>
        <p:spPr>
          <a:xfrm>
            <a:off x="724138" y="2514243"/>
            <a:ext cx="6487597" cy="1143000"/>
          </a:xfrm>
          <a:prstGeom prst="rect">
            <a:avLst/>
          </a:prstGeom>
        </p:spPr>
      </p:pic>
      <p:sp>
        <p:nvSpPr>
          <p:cNvPr id="5" name="Text 2"/>
          <p:cNvSpPr/>
          <p:nvPr/>
        </p:nvSpPr>
        <p:spPr>
          <a:xfrm>
            <a:off x="930950" y="3341727"/>
            <a:ext cx="2657475" cy="323255"/>
          </a:xfrm>
          <a:prstGeom prst="rect">
            <a:avLst/>
          </a:prstGeom>
          <a:noFill/>
          <a:ln/>
        </p:spPr>
        <p:txBody>
          <a:bodyPr wrap="none" lIns="0" tIns="0" rIns="0" bIns="0" rtlCol="0" anchor="t"/>
          <a:lstStyle/>
          <a:p>
            <a:pPr algn="l" indent="0" marL="0">
              <a:lnSpc>
                <a:spcPts val="2500"/>
              </a:lnSpc>
              <a:buNone/>
            </a:pPr>
            <a:r>
              <a:rPr lang="en-US" sz="2000" dirty="0">
                <a:solidFill>
                  <a:srgbClr val="CFD0D8"/>
                </a:solidFill>
                <a:latin typeface="Roboto Medium" pitchFamily="34" charset="0"/>
                <a:ea typeface="Roboto Medium" pitchFamily="34" charset="-122"/>
                <a:cs typeface="Roboto Medium" pitchFamily="34" charset="-120"/>
              </a:rPr>
              <a:t>1. Log in to Application</a:t>
            </a:r>
            <a:endParaRPr lang="en-US" sz="2000" dirty="0"/>
          </a:p>
        </p:txBody>
      </p:sp>
      <p:sp>
        <p:nvSpPr>
          <p:cNvPr id="6" name="Text 3"/>
          <p:cNvSpPr/>
          <p:nvPr/>
        </p:nvSpPr>
        <p:spPr>
          <a:xfrm>
            <a:off x="930950" y="3789045"/>
            <a:ext cx="6073973" cy="661988"/>
          </a:xfrm>
          <a:prstGeom prst="rect">
            <a:avLst/>
          </a:prstGeom>
          <a:noFill/>
          <a:ln/>
        </p:spPr>
        <p:txBody>
          <a:bodyPr wrap="square" lIns="0" tIns="0" rIns="0" bIns="0" rtlCol="0" anchor="t"/>
          <a:lstStyle/>
          <a:p>
            <a:pPr algn="l" indent="0" marL="0">
              <a:lnSpc>
                <a:spcPts val="2600"/>
              </a:lnSpc>
              <a:buNone/>
            </a:pPr>
            <a:r>
              <a:rPr lang="en-US" sz="1600" dirty="0">
                <a:solidFill>
                  <a:srgbClr val="CFD0D8"/>
                </a:solidFill>
                <a:latin typeface="Roboto" pitchFamily="34" charset="0"/>
                <a:ea typeface="Roboto" pitchFamily="34" charset="-122"/>
                <a:cs typeface="Roboto" pitchFamily="34" charset="-120"/>
              </a:rPr>
              <a:t>The doctor logs into the attendance tracking system via the dedicated application, authenticating their credentials.</a:t>
            </a:r>
            <a:endParaRPr lang="en-US" sz="1600" dirty="0"/>
          </a:p>
        </p:txBody>
      </p:sp>
      <p:pic>
        <p:nvPicPr>
          <p:cNvPr id="7" name="Image 1" descr="preencoded.png">    </p:cNvPr>
          <p:cNvPicPr>
            <a:picLocks noChangeAspect="1"/>
          </p:cNvPicPr>
          <p:nvPr/>
        </p:nvPicPr>
        <p:blipFill>
          <a:blip r:embed="rId2"/>
          <a:stretch>
            <a:fillRect/>
          </a:stretch>
        </p:blipFill>
        <p:spPr>
          <a:xfrm>
            <a:off x="7418546" y="2203966"/>
            <a:ext cx="6487716" cy="1143000"/>
          </a:xfrm>
          <a:prstGeom prst="rect">
            <a:avLst/>
          </a:prstGeom>
        </p:spPr>
      </p:pic>
      <p:sp>
        <p:nvSpPr>
          <p:cNvPr id="8" name="Text 4"/>
          <p:cNvSpPr/>
          <p:nvPr/>
        </p:nvSpPr>
        <p:spPr>
          <a:xfrm>
            <a:off x="7625358" y="3031450"/>
            <a:ext cx="2729627" cy="323255"/>
          </a:xfrm>
          <a:prstGeom prst="rect">
            <a:avLst/>
          </a:prstGeom>
          <a:noFill/>
          <a:ln/>
        </p:spPr>
        <p:txBody>
          <a:bodyPr wrap="none" lIns="0" tIns="0" rIns="0" bIns="0" rtlCol="0" anchor="t"/>
          <a:lstStyle/>
          <a:p>
            <a:pPr algn="l" indent="0" marL="0">
              <a:lnSpc>
                <a:spcPts val="2500"/>
              </a:lnSpc>
              <a:buNone/>
            </a:pPr>
            <a:r>
              <a:rPr lang="en-US" sz="2000" dirty="0">
                <a:solidFill>
                  <a:srgbClr val="CFD0D8"/>
                </a:solidFill>
                <a:latin typeface="Roboto Medium" pitchFamily="34" charset="0"/>
                <a:ea typeface="Roboto Medium" pitchFamily="34" charset="-122"/>
                <a:cs typeface="Roboto Medium" pitchFamily="34" charset="-120"/>
              </a:rPr>
              <a:t>2. Activate Live Camera</a:t>
            </a:r>
            <a:endParaRPr lang="en-US" sz="2000" dirty="0"/>
          </a:p>
        </p:txBody>
      </p:sp>
      <p:sp>
        <p:nvSpPr>
          <p:cNvPr id="9" name="Text 5"/>
          <p:cNvSpPr/>
          <p:nvPr/>
        </p:nvSpPr>
        <p:spPr>
          <a:xfrm>
            <a:off x="7625358" y="3478768"/>
            <a:ext cx="6074093" cy="661988"/>
          </a:xfrm>
          <a:prstGeom prst="rect">
            <a:avLst/>
          </a:prstGeom>
          <a:noFill/>
          <a:ln/>
        </p:spPr>
        <p:txBody>
          <a:bodyPr wrap="square" lIns="0" tIns="0" rIns="0" bIns="0" rtlCol="0" anchor="t"/>
          <a:lstStyle/>
          <a:p>
            <a:pPr algn="l" indent="0" marL="0">
              <a:lnSpc>
                <a:spcPts val="2600"/>
              </a:lnSpc>
              <a:buNone/>
            </a:pPr>
            <a:r>
              <a:rPr lang="en-US" sz="1600" dirty="0">
                <a:solidFill>
                  <a:srgbClr val="CFD0D8"/>
                </a:solidFill>
                <a:latin typeface="Roboto" pitchFamily="34" charset="0"/>
                <a:ea typeface="Roboto" pitchFamily="34" charset="-122"/>
                <a:cs typeface="Roboto" pitchFamily="34" charset="-120"/>
              </a:rPr>
              <a:t>Upon successful login, the doctor presses a trigger within the application to activate the live camera feed, preparing for capture.</a:t>
            </a:r>
            <a:endParaRPr lang="en-US" sz="1600" dirty="0"/>
          </a:p>
        </p:txBody>
      </p:sp>
      <p:pic>
        <p:nvPicPr>
          <p:cNvPr id="10" name="Image 2" descr="preencoded.png">    </p:cNvPr>
          <p:cNvPicPr>
            <a:picLocks noChangeAspect="1"/>
          </p:cNvPicPr>
          <p:nvPr/>
        </p:nvPicPr>
        <p:blipFill>
          <a:blip r:embed="rId3"/>
          <a:stretch>
            <a:fillRect/>
          </a:stretch>
        </p:blipFill>
        <p:spPr>
          <a:xfrm>
            <a:off x="724138" y="5174932"/>
            <a:ext cx="6487597" cy="1143000"/>
          </a:xfrm>
          <a:prstGeom prst="rect">
            <a:avLst/>
          </a:prstGeom>
        </p:spPr>
      </p:pic>
      <p:sp>
        <p:nvSpPr>
          <p:cNvPr id="11" name="Text 6"/>
          <p:cNvSpPr/>
          <p:nvPr/>
        </p:nvSpPr>
        <p:spPr>
          <a:xfrm>
            <a:off x="930950" y="6002417"/>
            <a:ext cx="5002649" cy="323255"/>
          </a:xfrm>
          <a:prstGeom prst="rect">
            <a:avLst/>
          </a:prstGeom>
          <a:noFill/>
          <a:ln/>
        </p:spPr>
        <p:txBody>
          <a:bodyPr wrap="none" lIns="0" tIns="0" rIns="0" bIns="0" rtlCol="0" anchor="t"/>
          <a:lstStyle/>
          <a:p>
            <a:pPr algn="l" indent="0" marL="0">
              <a:lnSpc>
                <a:spcPts val="2500"/>
              </a:lnSpc>
              <a:buNone/>
            </a:pPr>
            <a:r>
              <a:rPr lang="en-US" sz="2000" dirty="0">
                <a:solidFill>
                  <a:srgbClr val="CFD0D8"/>
                </a:solidFill>
                <a:latin typeface="Roboto Medium" pitchFamily="34" charset="0"/>
                <a:ea typeface="Roboto Medium" pitchFamily="34" charset="-122"/>
                <a:cs typeface="Roboto Medium" pitchFamily="34" charset="-120"/>
              </a:rPr>
              <a:t>3. Capture Images and Process Attendance</a:t>
            </a:r>
            <a:endParaRPr lang="en-US" sz="2000" dirty="0"/>
          </a:p>
        </p:txBody>
      </p:sp>
      <p:sp>
        <p:nvSpPr>
          <p:cNvPr id="12" name="Text 7"/>
          <p:cNvSpPr/>
          <p:nvPr/>
        </p:nvSpPr>
        <p:spPr>
          <a:xfrm>
            <a:off x="930950" y="6449735"/>
            <a:ext cx="6073973" cy="992981"/>
          </a:xfrm>
          <a:prstGeom prst="rect">
            <a:avLst/>
          </a:prstGeom>
          <a:noFill/>
          <a:ln/>
        </p:spPr>
        <p:txBody>
          <a:bodyPr wrap="square" lIns="0" tIns="0" rIns="0" bIns="0" rtlCol="0" anchor="t"/>
          <a:lstStyle/>
          <a:p>
            <a:pPr algn="l" indent="0" marL="0">
              <a:lnSpc>
                <a:spcPts val="2600"/>
              </a:lnSpc>
              <a:buNone/>
            </a:pPr>
            <a:r>
              <a:rPr lang="en-US" sz="1600" dirty="0">
                <a:solidFill>
                  <a:srgbClr val="CFD0D8"/>
                </a:solidFill>
                <a:latin typeface="Roboto" pitchFamily="34" charset="0"/>
                <a:ea typeface="Roboto" pitchFamily="34" charset="-122"/>
                <a:cs typeface="Roboto" pitchFamily="34" charset="-120"/>
              </a:rPr>
              <a:t>The application captures images from the live camera. These images are then processed to identify individuals and record attendance.</a:t>
            </a:r>
            <a:endParaRPr lang="en-US" sz="1600" dirty="0"/>
          </a:p>
        </p:txBody>
      </p:sp>
      <p:pic>
        <p:nvPicPr>
          <p:cNvPr id="13" name="Image 3" descr="preencoded.png">    </p:cNvPr>
          <p:cNvPicPr>
            <a:picLocks noChangeAspect="1"/>
          </p:cNvPicPr>
          <p:nvPr/>
        </p:nvPicPr>
        <p:blipFill>
          <a:blip r:embed="rId4"/>
          <a:stretch>
            <a:fillRect/>
          </a:stretch>
        </p:blipFill>
        <p:spPr>
          <a:xfrm>
            <a:off x="7418546" y="4864656"/>
            <a:ext cx="6487716" cy="1143000"/>
          </a:xfrm>
          <a:prstGeom prst="rect">
            <a:avLst/>
          </a:prstGeom>
        </p:spPr>
      </p:pic>
      <p:sp>
        <p:nvSpPr>
          <p:cNvPr id="14" name="Text 8"/>
          <p:cNvSpPr/>
          <p:nvPr/>
        </p:nvSpPr>
        <p:spPr>
          <a:xfrm>
            <a:off x="7625358" y="5692140"/>
            <a:ext cx="3920252" cy="323255"/>
          </a:xfrm>
          <a:prstGeom prst="rect">
            <a:avLst/>
          </a:prstGeom>
          <a:noFill/>
          <a:ln/>
        </p:spPr>
        <p:txBody>
          <a:bodyPr wrap="none" lIns="0" tIns="0" rIns="0" bIns="0" rtlCol="0" anchor="t"/>
          <a:lstStyle/>
          <a:p>
            <a:pPr algn="l" indent="0" marL="0">
              <a:lnSpc>
                <a:spcPts val="2500"/>
              </a:lnSpc>
              <a:buNone/>
            </a:pPr>
            <a:r>
              <a:rPr lang="en-US" sz="2000" dirty="0">
                <a:solidFill>
                  <a:srgbClr val="CFD0D8"/>
                </a:solidFill>
                <a:latin typeface="Roboto Medium" pitchFamily="34" charset="0"/>
                <a:ea typeface="Roboto Medium" pitchFamily="34" charset="-122"/>
                <a:cs typeface="Roboto Medium" pitchFamily="34" charset="-120"/>
              </a:rPr>
              <a:t>4. Record Attendance in Database</a:t>
            </a:r>
            <a:endParaRPr lang="en-US" sz="2000" dirty="0"/>
          </a:p>
        </p:txBody>
      </p:sp>
      <p:sp>
        <p:nvSpPr>
          <p:cNvPr id="15" name="Text 9"/>
          <p:cNvSpPr/>
          <p:nvPr/>
        </p:nvSpPr>
        <p:spPr>
          <a:xfrm>
            <a:off x="7625358" y="6139458"/>
            <a:ext cx="6074093" cy="992981"/>
          </a:xfrm>
          <a:prstGeom prst="rect">
            <a:avLst/>
          </a:prstGeom>
          <a:noFill/>
          <a:ln/>
        </p:spPr>
        <p:txBody>
          <a:bodyPr wrap="square" lIns="0" tIns="0" rIns="0" bIns="0" rtlCol="0" anchor="t"/>
          <a:lstStyle/>
          <a:p>
            <a:pPr algn="l" indent="0" marL="0">
              <a:lnSpc>
                <a:spcPts val="2600"/>
              </a:lnSpc>
              <a:buNone/>
            </a:pPr>
            <a:r>
              <a:rPr lang="en-US" sz="1600" dirty="0">
                <a:solidFill>
                  <a:srgbClr val="CFD0D8"/>
                </a:solidFill>
                <a:latin typeface="Roboto" pitchFamily="34" charset="0"/>
                <a:ea typeface="Roboto" pitchFamily="34" charset="-122"/>
                <a:cs typeface="Roboto" pitchFamily="34" charset="-120"/>
              </a:rPr>
              <a:t>The processed attendance data, including identified individuals and their attendance status, is securely stored in the central database.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52105" y="512564"/>
            <a:ext cx="10714792" cy="6696670"/>
          </a:xfrm>
          <a:prstGeom prst="rect">
            <a:avLst/>
          </a:prstGeom>
        </p:spPr>
      </p:pic>
      <p:sp>
        <p:nvSpPr>
          <p:cNvPr id="3" name="Text 0"/>
          <p:cNvSpPr/>
          <p:nvPr/>
        </p:nvSpPr>
        <p:spPr>
          <a:xfrm>
            <a:off x="652105" y="7418784"/>
            <a:ext cx="13326189" cy="298133"/>
          </a:xfrm>
          <a:prstGeom prst="rect">
            <a:avLst/>
          </a:prstGeom>
          <a:noFill/>
          <a:ln/>
        </p:spPr>
        <p:txBody>
          <a:bodyPr wrap="none" lIns="0" tIns="0" rIns="0" bIns="0" rtlCol="0" anchor="t"/>
          <a:lstStyle/>
          <a:p>
            <a:pPr algn="l" indent="0" marL="0">
              <a:lnSpc>
                <a:spcPts val="2300"/>
              </a:lnSpc>
              <a:buNone/>
            </a:pP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17471" y="563642"/>
            <a:ext cx="5124926" cy="640556"/>
          </a:xfrm>
          <a:prstGeom prst="rect">
            <a:avLst/>
          </a:prstGeom>
          <a:noFill/>
          <a:ln/>
        </p:spPr>
        <p:txBody>
          <a:bodyPr wrap="none" lIns="0" tIns="0" rIns="0" bIns="0" rtlCol="0" anchor="t"/>
          <a:lstStyle/>
          <a:p>
            <a:pPr algn="l" indent="0" marL="0">
              <a:lnSpc>
                <a:spcPts val="5000"/>
              </a:lnSpc>
              <a:buNone/>
            </a:pPr>
            <a:r>
              <a:rPr lang="en-US" sz="4000" dirty="0">
                <a:solidFill>
                  <a:srgbClr val="FFFFFF"/>
                </a:solidFill>
                <a:latin typeface="Roboto Medium" pitchFamily="34" charset="0"/>
                <a:ea typeface="Roboto Medium" pitchFamily="34" charset="-122"/>
                <a:cs typeface="Roboto Medium" pitchFamily="34" charset="-120"/>
              </a:rPr>
              <a:t>Development Process</a:t>
            </a:r>
            <a:endParaRPr lang="en-US" sz="4000" dirty="0"/>
          </a:p>
        </p:txBody>
      </p:sp>
      <p:pic>
        <p:nvPicPr>
          <p:cNvPr id="3" name="Image 0" descr="preencoded.png">    </p:cNvPr>
          <p:cNvPicPr>
            <a:picLocks noChangeAspect="1"/>
          </p:cNvPicPr>
          <p:nvPr/>
        </p:nvPicPr>
        <p:blipFill>
          <a:blip r:embed="rId1"/>
          <a:stretch>
            <a:fillRect/>
          </a:stretch>
        </p:blipFill>
        <p:spPr>
          <a:xfrm>
            <a:off x="717471" y="1921550"/>
            <a:ext cx="6495217" cy="1143000"/>
          </a:xfrm>
          <a:prstGeom prst="rect">
            <a:avLst/>
          </a:prstGeom>
        </p:spPr>
      </p:pic>
      <p:sp>
        <p:nvSpPr>
          <p:cNvPr id="4" name="Text 1"/>
          <p:cNvSpPr/>
          <p:nvPr/>
        </p:nvSpPr>
        <p:spPr>
          <a:xfrm>
            <a:off x="922377" y="2741414"/>
            <a:ext cx="2562463" cy="320278"/>
          </a:xfrm>
          <a:prstGeom prst="rect">
            <a:avLst/>
          </a:prstGeom>
          <a:noFill/>
          <a:ln/>
        </p:spPr>
        <p:txBody>
          <a:bodyPr wrap="none" lIns="0" tIns="0" rIns="0" bIns="0" rtlCol="0" anchor="t"/>
          <a:lstStyle/>
          <a:p>
            <a:pPr algn="l" indent="0" marL="0">
              <a:lnSpc>
                <a:spcPts val="2500"/>
              </a:lnSpc>
              <a:buNone/>
            </a:pPr>
            <a:r>
              <a:rPr lang="en-US" sz="2000" dirty="0">
                <a:solidFill>
                  <a:srgbClr val="CFD0D8"/>
                </a:solidFill>
                <a:latin typeface="Roboto Medium" pitchFamily="34" charset="0"/>
                <a:ea typeface="Roboto Medium" pitchFamily="34" charset="-122"/>
                <a:cs typeface="Roboto Medium" pitchFamily="34" charset="-120"/>
              </a:rPr>
              <a:t>Agile Approach</a:t>
            </a:r>
            <a:endParaRPr lang="en-US" sz="2000" dirty="0"/>
          </a:p>
        </p:txBody>
      </p:sp>
      <p:sp>
        <p:nvSpPr>
          <p:cNvPr id="5" name="Text 2"/>
          <p:cNvSpPr/>
          <p:nvPr/>
        </p:nvSpPr>
        <p:spPr>
          <a:xfrm>
            <a:off x="922377" y="3184684"/>
            <a:ext cx="6085403" cy="984052"/>
          </a:xfrm>
          <a:prstGeom prst="rect">
            <a:avLst/>
          </a:prstGeom>
          <a:noFill/>
          <a:ln/>
        </p:spPr>
        <p:txBody>
          <a:bodyPr wrap="square" lIns="0" tIns="0" rIns="0" bIns="0" rtlCol="0" anchor="t"/>
          <a:lstStyle/>
          <a:p>
            <a:pPr algn="l" indent="0" marL="0">
              <a:lnSpc>
                <a:spcPts val="2550"/>
              </a:lnSpc>
              <a:buNone/>
            </a:pPr>
            <a:r>
              <a:rPr lang="en-US" sz="1600" dirty="0">
                <a:solidFill>
                  <a:srgbClr val="CFD0D8"/>
                </a:solidFill>
                <a:latin typeface="Roboto" pitchFamily="34" charset="0"/>
                <a:ea typeface="Roboto" pitchFamily="34" charset="-122"/>
                <a:cs typeface="Roboto" pitchFamily="34" charset="-120"/>
              </a:rPr>
              <a:t>We followed an Agile approach throughout the project, working in short iterations with frequent feedback and adjustments rather than a fixed plan.</a:t>
            </a:r>
            <a:endParaRPr lang="en-US" sz="1600" dirty="0"/>
          </a:p>
        </p:txBody>
      </p:sp>
      <p:pic>
        <p:nvPicPr>
          <p:cNvPr id="6" name="Image 1" descr="preencoded.png">    </p:cNvPr>
          <p:cNvPicPr>
            <a:picLocks noChangeAspect="1"/>
          </p:cNvPicPr>
          <p:nvPr/>
        </p:nvPicPr>
        <p:blipFill>
          <a:blip r:embed="rId2"/>
          <a:stretch>
            <a:fillRect/>
          </a:stretch>
        </p:blipFill>
        <p:spPr>
          <a:xfrm>
            <a:off x="7417594" y="1614130"/>
            <a:ext cx="6495336" cy="1143000"/>
          </a:xfrm>
          <a:prstGeom prst="rect">
            <a:avLst/>
          </a:prstGeom>
        </p:spPr>
      </p:pic>
      <p:sp>
        <p:nvSpPr>
          <p:cNvPr id="7" name="Text 3"/>
          <p:cNvSpPr/>
          <p:nvPr/>
        </p:nvSpPr>
        <p:spPr>
          <a:xfrm>
            <a:off x="7622500" y="2433995"/>
            <a:ext cx="2562463" cy="320278"/>
          </a:xfrm>
          <a:prstGeom prst="rect">
            <a:avLst/>
          </a:prstGeom>
          <a:noFill/>
          <a:ln/>
        </p:spPr>
        <p:txBody>
          <a:bodyPr wrap="none" lIns="0" tIns="0" rIns="0" bIns="0" rtlCol="0" anchor="t"/>
          <a:lstStyle/>
          <a:p>
            <a:pPr algn="l" indent="0" marL="0">
              <a:lnSpc>
                <a:spcPts val="2500"/>
              </a:lnSpc>
              <a:buNone/>
            </a:pPr>
            <a:r>
              <a:rPr lang="en-US" sz="2000" dirty="0">
                <a:solidFill>
                  <a:srgbClr val="CFD0D8"/>
                </a:solidFill>
                <a:latin typeface="Roboto Medium" pitchFamily="34" charset="0"/>
                <a:ea typeface="Roboto Medium" pitchFamily="34" charset="-122"/>
                <a:cs typeface="Roboto Medium" pitchFamily="34" charset="-120"/>
              </a:rPr>
              <a:t>Flexible Timeline</a:t>
            </a:r>
            <a:endParaRPr lang="en-US" sz="2000" dirty="0"/>
          </a:p>
        </p:txBody>
      </p:sp>
      <p:sp>
        <p:nvSpPr>
          <p:cNvPr id="8" name="Text 4"/>
          <p:cNvSpPr/>
          <p:nvPr/>
        </p:nvSpPr>
        <p:spPr>
          <a:xfrm>
            <a:off x="7622500" y="2877264"/>
            <a:ext cx="6085523" cy="984052"/>
          </a:xfrm>
          <a:prstGeom prst="rect">
            <a:avLst/>
          </a:prstGeom>
          <a:noFill/>
          <a:ln/>
        </p:spPr>
        <p:txBody>
          <a:bodyPr wrap="square" lIns="0" tIns="0" rIns="0" bIns="0" rtlCol="0" anchor="t"/>
          <a:lstStyle/>
          <a:p>
            <a:pPr algn="l" indent="0" marL="0">
              <a:lnSpc>
                <a:spcPts val="2550"/>
              </a:lnSpc>
              <a:buNone/>
            </a:pPr>
            <a:r>
              <a:rPr lang="en-US" sz="1600" dirty="0">
                <a:solidFill>
                  <a:srgbClr val="CFD0D8"/>
                </a:solidFill>
                <a:latin typeface="Roboto" pitchFamily="34" charset="0"/>
                <a:ea typeface="Roboto" pitchFamily="34" charset="-122"/>
                <a:cs typeface="Roboto" pitchFamily="34" charset="-120"/>
              </a:rPr>
              <a:t>The original timeline outlined weekly goals, but in practice, tasks overlapped, priorities shifted, and some phases took longer than expected.</a:t>
            </a:r>
            <a:endParaRPr lang="en-US" sz="1600" dirty="0"/>
          </a:p>
        </p:txBody>
      </p:sp>
      <p:pic>
        <p:nvPicPr>
          <p:cNvPr id="9" name="Image 2" descr="preencoded.png">    </p:cNvPr>
          <p:cNvPicPr>
            <a:picLocks noChangeAspect="1"/>
          </p:cNvPicPr>
          <p:nvPr/>
        </p:nvPicPr>
        <p:blipFill>
          <a:blip r:embed="rId3"/>
          <a:stretch>
            <a:fillRect/>
          </a:stretch>
        </p:blipFill>
        <p:spPr>
          <a:xfrm>
            <a:off x="717471" y="4885968"/>
            <a:ext cx="6495217" cy="1143000"/>
          </a:xfrm>
          <a:prstGeom prst="rect">
            <a:avLst/>
          </a:prstGeom>
        </p:spPr>
      </p:pic>
      <p:sp>
        <p:nvSpPr>
          <p:cNvPr id="10" name="Text 5"/>
          <p:cNvSpPr/>
          <p:nvPr/>
        </p:nvSpPr>
        <p:spPr>
          <a:xfrm>
            <a:off x="922377" y="5705832"/>
            <a:ext cx="2562463" cy="320278"/>
          </a:xfrm>
          <a:prstGeom prst="rect">
            <a:avLst/>
          </a:prstGeom>
          <a:noFill/>
          <a:ln/>
        </p:spPr>
        <p:txBody>
          <a:bodyPr wrap="none" lIns="0" tIns="0" rIns="0" bIns="0" rtlCol="0" anchor="t"/>
          <a:lstStyle/>
          <a:p>
            <a:pPr algn="l" indent="0" marL="0">
              <a:lnSpc>
                <a:spcPts val="2500"/>
              </a:lnSpc>
              <a:buNone/>
            </a:pPr>
            <a:r>
              <a:rPr lang="en-US" sz="2000" dirty="0">
                <a:solidFill>
                  <a:srgbClr val="CFD0D8"/>
                </a:solidFill>
                <a:latin typeface="Roboto Medium" pitchFamily="34" charset="0"/>
                <a:ea typeface="Roboto Medium" pitchFamily="34" charset="-122"/>
                <a:cs typeface="Roboto Medium" pitchFamily="34" charset="-120"/>
              </a:rPr>
              <a:t>Integration Focus</a:t>
            </a:r>
            <a:endParaRPr lang="en-US" sz="2000" dirty="0"/>
          </a:p>
        </p:txBody>
      </p:sp>
      <p:sp>
        <p:nvSpPr>
          <p:cNvPr id="11" name="Text 6"/>
          <p:cNvSpPr/>
          <p:nvPr/>
        </p:nvSpPr>
        <p:spPr>
          <a:xfrm>
            <a:off x="922377" y="6149102"/>
            <a:ext cx="6085403" cy="1312069"/>
          </a:xfrm>
          <a:prstGeom prst="rect">
            <a:avLst/>
          </a:prstGeom>
          <a:noFill/>
          <a:ln/>
        </p:spPr>
        <p:txBody>
          <a:bodyPr wrap="square" lIns="0" tIns="0" rIns="0" bIns="0" rtlCol="0" anchor="t"/>
          <a:lstStyle/>
          <a:p>
            <a:pPr algn="l" indent="0" marL="0">
              <a:lnSpc>
                <a:spcPts val="2550"/>
              </a:lnSpc>
              <a:buNone/>
            </a:pPr>
            <a:r>
              <a:rPr lang="en-US" sz="1600" dirty="0">
                <a:solidFill>
                  <a:srgbClr val="CFD0D8"/>
                </a:solidFill>
                <a:latin typeface="Roboto" pitchFamily="34" charset="0"/>
                <a:ea typeface="Roboto" pitchFamily="34" charset="-122"/>
                <a:cs typeface="Roboto" pitchFamily="34" charset="-120"/>
              </a:rPr>
              <a:t>The majority of development time was spent on backend and component integration — connecting Flutter to FastAPI, handling base64 image flow, debugging AI model loading, and fixing JWT authentication.</a:t>
            </a:r>
            <a:endParaRPr lang="en-US" sz="1600" dirty="0"/>
          </a:p>
        </p:txBody>
      </p:sp>
      <p:pic>
        <p:nvPicPr>
          <p:cNvPr id="12" name="Image 3" descr="preencoded.png">    </p:cNvPr>
          <p:cNvPicPr>
            <a:picLocks noChangeAspect="1"/>
          </p:cNvPicPr>
          <p:nvPr/>
        </p:nvPicPr>
        <p:blipFill>
          <a:blip r:embed="rId4"/>
          <a:stretch>
            <a:fillRect/>
          </a:stretch>
        </p:blipFill>
        <p:spPr>
          <a:xfrm>
            <a:off x="7417594" y="4578548"/>
            <a:ext cx="6495336" cy="1143000"/>
          </a:xfrm>
          <a:prstGeom prst="rect">
            <a:avLst/>
          </a:prstGeom>
        </p:spPr>
      </p:pic>
      <p:sp>
        <p:nvSpPr>
          <p:cNvPr id="13" name="Text 7"/>
          <p:cNvSpPr/>
          <p:nvPr/>
        </p:nvSpPr>
        <p:spPr>
          <a:xfrm>
            <a:off x="7622500" y="5398413"/>
            <a:ext cx="2954417" cy="320278"/>
          </a:xfrm>
          <a:prstGeom prst="rect">
            <a:avLst/>
          </a:prstGeom>
          <a:noFill/>
          <a:ln/>
        </p:spPr>
        <p:txBody>
          <a:bodyPr wrap="none" lIns="0" tIns="0" rIns="0" bIns="0" rtlCol="0" anchor="t"/>
          <a:lstStyle/>
          <a:p>
            <a:pPr algn="l" indent="0" marL="0">
              <a:lnSpc>
                <a:spcPts val="2500"/>
              </a:lnSpc>
              <a:buNone/>
            </a:pPr>
            <a:r>
              <a:rPr lang="en-US" sz="2000" dirty="0">
                <a:solidFill>
                  <a:srgbClr val="CFD0D8"/>
                </a:solidFill>
                <a:latin typeface="Roboto Medium" pitchFamily="34" charset="0"/>
                <a:ea typeface="Roboto Medium" pitchFamily="34" charset="-122"/>
                <a:cs typeface="Roboto Medium" pitchFamily="34" charset="-120"/>
              </a:rPr>
              <a:t>Mobile Testing with ngrok</a:t>
            </a:r>
            <a:endParaRPr lang="en-US" sz="2000" dirty="0"/>
          </a:p>
        </p:txBody>
      </p:sp>
      <p:sp>
        <p:nvSpPr>
          <p:cNvPr id="14" name="Text 8"/>
          <p:cNvSpPr/>
          <p:nvPr/>
        </p:nvSpPr>
        <p:spPr>
          <a:xfrm>
            <a:off x="7622500" y="5841682"/>
            <a:ext cx="6085523" cy="984052"/>
          </a:xfrm>
          <a:prstGeom prst="rect">
            <a:avLst/>
          </a:prstGeom>
          <a:noFill/>
          <a:ln/>
        </p:spPr>
        <p:txBody>
          <a:bodyPr wrap="square" lIns="0" tIns="0" rIns="0" bIns="0" rtlCol="0" anchor="t"/>
          <a:lstStyle/>
          <a:p>
            <a:pPr algn="l" indent="0" marL="0">
              <a:lnSpc>
                <a:spcPts val="2550"/>
              </a:lnSpc>
              <a:buNone/>
            </a:pPr>
            <a:r>
              <a:rPr lang="en-US" sz="1600" dirty="0">
                <a:solidFill>
                  <a:srgbClr val="CFD0D8"/>
                </a:solidFill>
                <a:latin typeface="Roboto" pitchFamily="34" charset="0"/>
                <a:ea typeface="Roboto" pitchFamily="34" charset="-122"/>
                <a:cs typeface="Roboto" pitchFamily="34" charset="-120"/>
              </a:rPr>
              <a:t>We extensively used ngrok through share_api.py to create a temporary public HTTPS tunnel, enabling real-device testing without needing both devices on the same local network.</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42236" y="751761"/>
            <a:ext cx="6068497" cy="662821"/>
          </a:xfrm>
          <a:prstGeom prst="rect">
            <a:avLst/>
          </a:prstGeom>
          <a:noFill/>
          <a:ln/>
        </p:spPr>
        <p:txBody>
          <a:bodyPr wrap="none" lIns="0" tIns="0" rIns="0" bIns="0" rtlCol="0" anchor="t"/>
          <a:lstStyle/>
          <a:p>
            <a:pPr algn="l" indent="0" marL="0">
              <a:lnSpc>
                <a:spcPts val="5200"/>
              </a:lnSpc>
              <a:buNone/>
            </a:pPr>
            <a:r>
              <a:rPr lang="en-US" sz="4150" dirty="0">
                <a:solidFill>
                  <a:srgbClr val="FFFFFF"/>
                </a:solidFill>
                <a:latin typeface="Roboto Medium" pitchFamily="34" charset="0"/>
                <a:ea typeface="Roboto Medium" pitchFamily="34" charset="-122"/>
                <a:cs typeface="Roboto Medium" pitchFamily="34" charset="-120"/>
              </a:rPr>
              <a:t>Key Challenges We Faced</a:t>
            </a:r>
            <a:endParaRPr lang="en-US" sz="4150" dirty="0"/>
          </a:p>
        </p:txBody>
      </p:sp>
      <p:sp>
        <p:nvSpPr>
          <p:cNvPr id="3" name="Text 1"/>
          <p:cNvSpPr/>
          <p:nvPr/>
        </p:nvSpPr>
        <p:spPr>
          <a:xfrm>
            <a:off x="742236" y="1838682"/>
            <a:ext cx="13145929" cy="339209"/>
          </a:xfrm>
          <a:prstGeom prst="rect">
            <a:avLst/>
          </a:prstGeom>
          <a:noFill/>
          <a:ln/>
        </p:spPr>
        <p:txBody>
          <a:bodyPr wrap="none" lIns="0" tIns="0" rIns="0" bIns="0" rtlCol="0" anchor="t"/>
          <a:lstStyle/>
          <a:p>
            <a:pPr algn="l" indent="0" marL="0">
              <a:lnSpc>
                <a:spcPts val="2650"/>
              </a:lnSpc>
              <a:buNone/>
            </a:pPr>
            <a:r>
              <a:rPr lang="en-US" sz="1650" dirty="0">
                <a:solidFill>
                  <a:srgbClr val="CFD0D8"/>
                </a:solidFill>
                <a:latin typeface="Roboto" pitchFamily="34" charset="0"/>
                <a:ea typeface="Roboto" pitchFamily="34" charset="-122"/>
                <a:cs typeface="Roboto" pitchFamily="34" charset="-120"/>
              </a:rPr>
              <a:t>During the development process, we encountered several challenges that required flexible problem-solving and iterative adjustments.</a:t>
            </a:r>
            <a:endParaRPr lang="en-US" sz="1650" dirty="0"/>
          </a:p>
        </p:txBody>
      </p:sp>
      <p:sp>
        <p:nvSpPr>
          <p:cNvPr id="4" name="Shape 2"/>
          <p:cNvSpPr/>
          <p:nvPr/>
        </p:nvSpPr>
        <p:spPr>
          <a:xfrm>
            <a:off x="742236" y="2416493"/>
            <a:ext cx="6466880" cy="2424589"/>
          </a:xfrm>
          <a:prstGeom prst="roundRect">
            <a:avLst>
              <a:gd name="adj" fmla="val 3674"/>
            </a:avLst>
          </a:prstGeom>
          <a:solidFill>
            <a:srgbClr val="182567"/>
          </a:solidFill>
          <a:ln w="7620">
            <a:solidFill>
              <a:srgbClr val="313E80"/>
            </a:solidFill>
            <a:prstDash val="solid"/>
          </a:ln>
        </p:spPr>
      </p:sp>
      <p:sp>
        <p:nvSpPr>
          <p:cNvPr id="5" name="Shape 3"/>
          <p:cNvSpPr/>
          <p:nvPr/>
        </p:nvSpPr>
        <p:spPr>
          <a:xfrm>
            <a:off x="961906" y="2636163"/>
            <a:ext cx="636270" cy="636270"/>
          </a:xfrm>
          <a:prstGeom prst="roundRect">
            <a:avLst>
              <a:gd name="adj" fmla="val 14369820"/>
            </a:avLst>
          </a:prstGeom>
          <a:solidFill>
            <a:srgbClr val="5A6ED8"/>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36928" y="2811185"/>
            <a:ext cx="286226" cy="286226"/>
          </a:xfrm>
          <a:prstGeom prst="rect">
            <a:avLst/>
          </a:prstGeom>
        </p:spPr>
      </p:pic>
      <p:sp>
        <p:nvSpPr>
          <p:cNvPr id="7" name="Text 4"/>
          <p:cNvSpPr/>
          <p:nvPr/>
        </p:nvSpPr>
        <p:spPr>
          <a:xfrm>
            <a:off x="961906" y="3484483"/>
            <a:ext cx="2686288" cy="331351"/>
          </a:xfrm>
          <a:prstGeom prst="rect">
            <a:avLst/>
          </a:prstGeom>
          <a:noFill/>
          <a:ln/>
        </p:spPr>
        <p:txBody>
          <a:bodyPr wrap="none" lIns="0" tIns="0" rIns="0" bIns="0" rtlCol="0" anchor="t"/>
          <a:lstStyle/>
          <a:p>
            <a:pPr algn="l" indent="0" marL="0">
              <a:lnSpc>
                <a:spcPts val="2600"/>
              </a:lnSpc>
              <a:buNone/>
            </a:pPr>
            <a:r>
              <a:rPr lang="en-US" sz="2050" dirty="0">
                <a:solidFill>
                  <a:srgbClr val="CFD0D8"/>
                </a:solidFill>
                <a:latin typeface="Roboto Medium" pitchFamily="34" charset="0"/>
                <a:ea typeface="Roboto Medium" pitchFamily="34" charset="-122"/>
                <a:cs typeface="Roboto Medium" pitchFamily="34" charset="-120"/>
              </a:rPr>
              <a:t>Integration Complexity</a:t>
            </a:r>
            <a:endParaRPr lang="en-US" sz="2050" dirty="0"/>
          </a:p>
        </p:txBody>
      </p:sp>
      <p:sp>
        <p:nvSpPr>
          <p:cNvPr id="8" name="Text 5"/>
          <p:cNvSpPr/>
          <p:nvPr/>
        </p:nvSpPr>
        <p:spPr>
          <a:xfrm>
            <a:off x="961906" y="3942993"/>
            <a:ext cx="6027539" cy="678418"/>
          </a:xfrm>
          <a:prstGeom prst="rect">
            <a:avLst/>
          </a:prstGeom>
          <a:noFill/>
          <a:ln/>
        </p:spPr>
        <p:txBody>
          <a:bodyPr wrap="square" lIns="0" tIns="0" rIns="0" bIns="0" rtlCol="0" anchor="t"/>
          <a:lstStyle/>
          <a:p>
            <a:pPr algn="l" indent="0" marL="0">
              <a:lnSpc>
                <a:spcPts val="2650"/>
              </a:lnSpc>
              <a:buNone/>
            </a:pPr>
            <a:r>
              <a:rPr lang="en-US" sz="1650" dirty="0">
                <a:solidFill>
                  <a:srgbClr val="CFD0D8"/>
                </a:solidFill>
                <a:latin typeface="Roboto" pitchFamily="34" charset="0"/>
                <a:ea typeface="Roboto" pitchFamily="34" charset="-122"/>
                <a:cs typeface="Roboto" pitchFamily="34" charset="-120"/>
              </a:rPr>
              <a:t>Integration complexity between Flutter, FastAPI, InsightFace, and PostgreSQL.</a:t>
            </a:r>
            <a:endParaRPr lang="en-US" sz="1650" dirty="0"/>
          </a:p>
        </p:txBody>
      </p:sp>
      <p:sp>
        <p:nvSpPr>
          <p:cNvPr id="9" name="Shape 6"/>
          <p:cNvSpPr/>
          <p:nvPr/>
        </p:nvSpPr>
        <p:spPr>
          <a:xfrm>
            <a:off x="7421166" y="2416493"/>
            <a:ext cx="6466999" cy="2424589"/>
          </a:xfrm>
          <a:prstGeom prst="roundRect">
            <a:avLst>
              <a:gd name="adj" fmla="val 3674"/>
            </a:avLst>
          </a:prstGeom>
          <a:solidFill>
            <a:srgbClr val="182567"/>
          </a:solidFill>
          <a:ln w="7620">
            <a:solidFill>
              <a:srgbClr val="313E80"/>
            </a:solidFill>
            <a:prstDash val="solid"/>
          </a:ln>
        </p:spPr>
      </p:sp>
      <p:sp>
        <p:nvSpPr>
          <p:cNvPr id="10" name="Shape 7"/>
          <p:cNvSpPr/>
          <p:nvPr/>
        </p:nvSpPr>
        <p:spPr>
          <a:xfrm>
            <a:off x="7640836" y="2636163"/>
            <a:ext cx="636270" cy="636270"/>
          </a:xfrm>
          <a:prstGeom prst="roundRect">
            <a:avLst>
              <a:gd name="adj" fmla="val 14369820"/>
            </a:avLst>
          </a:prstGeom>
          <a:solidFill>
            <a:srgbClr val="5A6ED8"/>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15858" y="2811185"/>
            <a:ext cx="286226" cy="286226"/>
          </a:xfrm>
          <a:prstGeom prst="rect">
            <a:avLst/>
          </a:prstGeom>
        </p:spPr>
      </p:pic>
      <p:sp>
        <p:nvSpPr>
          <p:cNvPr id="12" name="Text 8"/>
          <p:cNvSpPr/>
          <p:nvPr/>
        </p:nvSpPr>
        <p:spPr>
          <a:xfrm>
            <a:off x="7640836" y="3484483"/>
            <a:ext cx="2651165" cy="331351"/>
          </a:xfrm>
          <a:prstGeom prst="rect">
            <a:avLst/>
          </a:prstGeom>
          <a:noFill/>
          <a:ln/>
        </p:spPr>
        <p:txBody>
          <a:bodyPr wrap="none" lIns="0" tIns="0" rIns="0" bIns="0" rtlCol="0" anchor="t"/>
          <a:lstStyle/>
          <a:p>
            <a:pPr algn="l" indent="0" marL="0">
              <a:lnSpc>
                <a:spcPts val="2600"/>
              </a:lnSpc>
              <a:buNone/>
            </a:pPr>
            <a:r>
              <a:rPr lang="en-US" sz="2050" dirty="0">
                <a:solidFill>
                  <a:srgbClr val="CFD0D8"/>
                </a:solidFill>
                <a:latin typeface="Roboto Medium" pitchFamily="34" charset="0"/>
                <a:ea typeface="Roboto Medium" pitchFamily="34" charset="-122"/>
                <a:cs typeface="Roboto Medium" pitchFamily="34" charset="-120"/>
              </a:rPr>
              <a:t>Data Consistency</a:t>
            </a:r>
            <a:endParaRPr lang="en-US" sz="2050" dirty="0"/>
          </a:p>
        </p:txBody>
      </p:sp>
      <p:sp>
        <p:nvSpPr>
          <p:cNvPr id="13" name="Text 9"/>
          <p:cNvSpPr/>
          <p:nvPr/>
        </p:nvSpPr>
        <p:spPr>
          <a:xfrm>
            <a:off x="7640836" y="3942993"/>
            <a:ext cx="6027658" cy="678418"/>
          </a:xfrm>
          <a:prstGeom prst="rect">
            <a:avLst/>
          </a:prstGeom>
          <a:noFill/>
          <a:ln/>
        </p:spPr>
        <p:txBody>
          <a:bodyPr wrap="square" lIns="0" tIns="0" rIns="0" bIns="0" rtlCol="0" anchor="t"/>
          <a:lstStyle/>
          <a:p>
            <a:pPr algn="l" indent="0" marL="0">
              <a:lnSpc>
                <a:spcPts val="2650"/>
              </a:lnSpc>
              <a:buNone/>
            </a:pPr>
            <a:r>
              <a:rPr lang="en-US" sz="1650" dirty="0">
                <a:solidFill>
                  <a:srgbClr val="CFD0D8"/>
                </a:solidFill>
                <a:latin typeface="Roboto" pitchFamily="34" charset="0"/>
                <a:ea typeface="Roboto" pitchFamily="34" charset="-122"/>
                <a:cs typeface="Roboto" pitchFamily="34" charset="-120"/>
              </a:rPr>
              <a:t>Ensuring consistent base64 decoding and AI processing across environments.</a:t>
            </a:r>
            <a:endParaRPr lang="en-US" sz="1650" dirty="0"/>
          </a:p>
        </p:txBody>
      </p:sp>
      <p:sp>
        <p:nvSpPr>
          <p:cNvPr id="14" name="Shape 10"/>
          <p:cNvSpPr/>
          <p:nvPr/>
        </p:nvSpPr>
        <p:spPr>
          <a:xfrm>
            <a:off x="742236" y="5053132"/>
            <a:ext cx="6466880" cy="2424589"/>
          </a:xfrm>
          <a:prstGeom prst="roundRect">
            <a:avLst>
              <a:gd name="adj" fmla="val 3674"/>
            </a:avLst>
          </a:prstGeom>
          <a:solidFill>
            <a:srgbClr val="182567"/>
          </a:solidFill>
          <a:ln w="7620">
            <a:solidFill>
              <a:srgbClr val="313E80"/>
            </a:solidFill>
            <a:prstDash val="solid"/>
          </a:ln>
        </p:spPr>
      </p:sp>
      <p:sp>
        <p:nvSpPr>
          <p:cNvPr id="15" name="Shape 11"/>
          <p:cNvSpPr/>
          <p:nvPr/>
        </p:nvSpPr>
        <p:spPr>
          <a:xfrm>
            <a:off x="961906" y="5272802"/>
            <a:ext cx="636270" cy="636270"/>
          </a:xfrm>
          <a:prstGeom prst="roundRect">
            <a:avLst>
              <a:gd name="adj" fmla="val 14369820"/>
            </a:avLst>
          </a:prstGeom>
          <a:solidFill>
            <a:srgbClr val="5A6ED8"/>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36928" y="5447824"/>
            <a:ext cx="286226" cy="286226"/>
          </a:xfrm>
          <a:prstGeom prst="rect">
            <a:avLst/>
          </a:prstGeom>
        </p:spPr>
      </p:pic>
      <p:sp>
        <p:nvSpPr>
          <p:cNvPr id="17" name="Text 12"/>
          <p:cNvSpPr/>
          <p:nvPr/>
        </p:nvSpPr>
        <p:spPr>
          <a:xfrm>
            <a:off x="961906" y="6121122"/>
            <a:ext cx="3344704" cy="331351"/>
          </a:xfrm>
          <a:prstGeom prst="rect">
            <a:avLst/>
          </a:prstGeom>
          <a:noFill/>
          <a:ln/>
        </p:spPr>
        <p:txBody>
          <a:bodyPr wrap="none" lIns="0" tIns="0" rIns="0" bIns="0" rtlCol="0" anchor="t"/>
          <a:lstStyle/>
          <a:p>
            <a:pPr algn="l" indent="0" marL="0">
              <a:lnSpc>
                <a:spcPts val="2600"/>
              </a:lnSpc>
              <a:buNone/>
            </a:pPr>
            <a:r>
              <a:rPr lang="en-US" sz="2050" dirty="0">
                <a:solidFill>
                  <a:srgbClr val="CFD0D8"/>
                </a:solidFill>
                <a:latin typeface="Roboto Medium" pitchFamily="34" charset="0"/>
                <a:ea typeface="Roboto Medium" pitchFamily="34" charset="-122"/>
                <a:cs typeface="Roboto Medium" pitchFamily="34" charset="-120"/>
              </a:rPr>
              <a:t>Dynamic Network Endpoints</a:t>
            </a:r>
            <a:endParaRPr lang="en-US" sz="2050" dirty="0"/>
          </a:p>
        </p:txBody>
      </p:sp>
      <p:sp>
        <p:nvSpPr>
          <p:cNvPr id="18" name="Text 13"/>
          <p:cNvSpPr/>
          <p:nvPr/>
        </p:nvSpPr>
        <p:spPr>
          <a:xfrm>
            <a:off x="961906" y="6579632"/>
            <a:ext cx="6027539" cy="678418"/>
          </a:xfrm>
          <a:prstGeom prst="rect">
            <a:avLst/>
          </a:prstGeom>
          <a:noFill/>
          <a:ln/>
        </p:spPr>
        <p:txBody>
          <a:bodyPr wrap="square" lIns="0" tIns="0" rIns="0" bIns="0" rtlCol="0" anchor="t"/>
          <a:lstStyle/>
          <a:p>
            <a:pPr algn="l" indent="0" marL="0">
              <a:lnSpc>
                <a:spcPts val="2650"/>
              </a:lnSpc>
              <a:buNone/>
            </a:pPr>
            <a:r>
              <a:rPr lang="en-US" sz="1650" dirty="0">
                <a:solidFill>
                  <a:srgbClr val="CFD0D8"/>
                </a:solidFill>
                <a:latin typeface="Roboto" pitchFamily="34" charset="0"/>
                <a:ea typeface="Roboto" pitchFamily="34" charset="-122"/>
                <a:cs typeface="Roboto" pitchFamily="34" charset="-120"/>
              </a:rPr>
              <a:t>Frequent ngrok URL changes requiring updates in the Flutter app during testing sessions.</a:t>
            </a:r>
            <a:endParaRPr lang="en-US" sz="1650" dirty="0"/>
          </a:p>
        </p:txBody>
      </p:sp>
      <p:sp>
        <p:nvSpPr>
          <p:cNvPr id="19" name="Shape 14"/>
          <p:cNvSpPr/>
          <p:nvPr/>
        </p:nvSpPr>
        <p:spPr>
          <a:xfrm>
            <a:off x="7421166" y="5053132"/>
            <a:ext cx="6466999" cy="2424589"/>
          </a:xfrm>
          <a:prstGeom prst="roundRect">
            <a:avLst>
              <a:gd name="adj" fmla="val 3674"/>
            </a:avLst>
          </a:prstGeom>
          <a:solidFill>
            <a:srgbClr val="182567"/>
          </a:solidFill>
          <a:ln w="7620">
            <a:solidFill>
              <a:srgbClr val="313E80"/>
            </a:solidFill>
            <a:prstDash val="solid"/>
          </a:ln>
        </p:spPr>
      </p:sp>
      <p:sp>
        <p:nvSpPr>
          <p:cNvPr id="20" name="Shape 15"/>
          <p:cNvSpPr/>
          <p:nvPr/>
        </p:nvSpPr>
        <p:spPr>
          <a:xfrm>
            <a:off x="7640836" y="5272802"/>
            <a:ext cx="636270" cy="636270"/>
          </a:xfrm>
          <a:prstGeom prst="roundRect">
            <a:avLst>
              <a:gd name="adj" fmla="val 14369820"/>
            </a:avLst>
          </a:prstGeom>
          <a:solidFill>
            <a:srgbClr val="5A6ED8"/>
          </a:solidFill>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15858" y="5447824"/>
            <a:ext cx="286226" cy="286226"/>
          </a:xfrm>
          <a:prstGeom prst="rect">
            <a:avLst/>
          </a:prstGeom>
        </p:spPr>
      </p:pic>
      <p:sp>
        <p:nvSpPr>
          <p:cNvPr id="22" name="Text 16"/>
          <p:cNvSpPr/>
          <p:nvPr/>
        </p:nvSpPr>
        <p:spPr>
          <a:xfrm>
            <a:off x="7640836" y="6121122"/>
            <a:ext cx="2875598" cy="331351"/>
          </a:xfrm>
          <a:prstGeom prst="rect">
            <a:avLst/>
          </a:prstGeom>
          <a:noFill/>
          <a:ln/>
        </p:spPr>
        <p:txBody>
          <a:bodyPr wrap="none" lIns="0" tIns="0" rIns="0" bIns="0" rtlCol="0" anchor="t"/>
          <a:lstStyle/>
          <a:p>
            <a:pPr algn="l" indent="0" marL="0">
              <a:lnSpc>
                <a:spcPts val="2600"/>
              </a:lnSpc>
              <a:buNone/>
            </a:pPr>
            <a:r>
              <a:rPr lang="en-US" sz="2050" dirty="0">
                <a:solidFill>
                  <a:srgbClr val="CFD0D8"/>
                </a:solidFill>
                <a:latin typeface="Roboto Medium" pitchFamily="34" charset="0"/>
                <a:ea typeface="Roboto Medium" pitchFamily="34" charset="-122"/>
                <a:cs typeface="Roboto Medium" pitchFamily="34" charset="-120"/>
              </a:rPr>
              <a:t>AI Performance Balance</a:t>
            </a:r>
            <a:endParaRPr lang="en-US" sz="2050" dirty="0"/>
          </a:p>
        </p:txBody>
      </p:sp>
      <p:sp>
        <p:nvSpPr>
          <p:cNvPr id="23" name="Text 17"/>
          <p:cNvSpPr/>
          <p:nvPr/>
        </p:nvSpPr>
        <p:spPr>
          <a:xfrm>
            <a:off x="7640836" y="6579632"/>
            <a:ext cx="6027658" cy="339209"/>
          </a:xfrm>
          <a:prstGeom prst="rect">
            <a:avLst/>
          </a:prstGeom>
          <a:noFill/>
          <a:ln/>
        </p:spPr>
        <p:txBody>
          <a:bodyPr wrap="none" lIns="0" tIns="0" rIns="0" bIns="0" rtlCol="0" anchor="t"/>
          <a:lstStyle/>
          <a:p>
            <a:pPr algn="l" indent="0" marL="0">
              <a:lnSpc>
                <a:spcPts val="2650"/>
              </a:lnSpc>
              <a:buNone/>
            </a:pPr>
            <a:r>
              <a:rPr lang="en-US" sz="1650" dirty="0">
                <a:solidFill>
                  <a:srgbClr val="CFD0D8"/>
                </a:solidFill>
                <a:latin typeface="Roboto" pitchFamily="34" charset="0"/>
                <a:ea typeface="Roboto" pitchFamily="34" charset="-122"/>
                <a:cs typeface="Roboto" pitchFamily="34" charset="-120"/>
              </a:rPr>
              <a:t>Balancing AI accuracy with prototype performance constraints.</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1937623"/>
            <a:ext cx="10136981" cy="708779"/>
          </a:xfrm>
          <a:prstGeom prst="rect">
            <a:avLst/>
          </a:prstGeom>
          <a:noFill/>
          <a:ln/>
        </p:spPr>
        <p:txBody>
          <a:bodyPr wrap="none" lIns="0" tIns="0" rIns="0" bIns="0" rtlCol="0" anchor="t"/>
          <a:lstStyle/>
          <a:p>
            <a:pPr algn="l" indent="0" marL="0">
              <a:lnSpc>
                <a:spcPts val="5550"/>
              </a:lnSpc>
              <a:buNone/>
            </a:pPr>
            <a:r>
              <a:rPr lang="en-US" sz="4450" dirty="0">
                <a:solidFill>
                  <a:srgbClr val="FFFFFF"/>
                </a:solidFill>
                <a:latin typeface="Roboto Medium" pitchFamily="34" charset="0"/>
                <a:ea typeface="Roboto Medium" pitchFamily="34" charset="-122"/>
                <a:cs typeface="Roboto Medium" pitchFamily="34" charset="-120"/>
              </a:rPr>
              <a:t>Development Team and Responsibilities</a:t>
            </a:r>
            <a:endParaRPr lang="en-US" sz="4450" dirty="0"/>
          </a:p>
        </p:txBody>
      </p:sp>
      <p:sp>
        <p:nvSpPr>
          <p:cNvPr id="3" name="Text 1"/>
          <p:cNvSpPr/>
          <p:nvPr/>
        </p:nvSpPr>
        <p:spPr>
          <a:xfrm>
            <a:off x="793790" y="3100030"/>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The team consists of engineers specialized in computer vision, mobile application development, and backend engineering.</a:t>
            </a:r>
            <a:endParaRPr lang="en-US" sz="1750" dirty="0"/>
          </a:p>
        </p:txBody>
      </p:sp>
      <p:sp>
        <p:nvSpPr>
          <p:cNvPr id="4" name="Text 2"/>
          <p:cNvSpPr/>
          <p:nvPr/>
        </p:nvSpPr>
        <p:spPr>
          <a:xfrm>
            <a:off x="793790" y="3718084"/>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CFD0D8"/>
                </a:solidFill>
                <a:latin typeface="Roboto" pitchFamily="34" charset="0"/>
                <a:ea typeface="Roboto" pitchFamily="34" charset="-122"/>
                <a:cs typeface="Roboto" pitchFamily="34" charset="-120"/>
              </a:rPr>
              <a:t>Mohamed Fouad :</a:t>
            </a:r>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 Computer Vision Engineer - Leading face recognition implementation and model integration.</a:t>
            </a:r>
            <a:endParaRPr lang="en-US" sz="1750" dirty="0"/>
          </a:p>
        </p:txBody>
      </p:sp>
      <p:sp>
        <p:nvSpPr>
          <p:cNvPr id="5" name="Text 3"/>
          <p:cNvSpPr/>
          <p:nvPr/>
        </p:nvSpPr>
        <p:spPr>
          <a:xfrm>
            <a:off x="793790" y="4160282"/>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CFD0D8"/>
                </a:solidFill>
                <a:latin typeface="Roboto" pitchFamily="34" charset="0"/>
                <a:ea typeface="Roboto" pitchFamily="34" charset="-122"/>
                <a:cs typeface="Roboto" pitchFamily="34" charset="-120"/>
              </a:rPr>
              <a:t>Mina Waheed:</a:t>
            </a:r>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 Computer Vision &amp; Backend Engineer - Working on the AI processing pipeline and handling embeddings.</a:t>
            </a:r>
            <a:endParaRPr lang="en-US" sz="1750" dirty="0"/>
          </a:p>
        </p:txBody>
      </p:sp>
      <p:sp>
        <p:nvSpPr>
          <p:cNvPr id="6" name="Text 4"/>
          <p:cNvSpPr/>
          <p:nvPr/>
        </p:nvSpPr>
        <p:spPr>
          <a:xfrm>
            <a:off x="793790" y="4602480"/>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CFD0D8"/>
                </a:solidFill>
                <a:latin typeface="Roboto" pitchFamily="34" charset="0"/>
                <a:ea typeface="Roboto" pitchFamily="34" charset="-122"/>
                <a:cs typeface="Roboto" pitchFamily="34" charset="-120"/>
              </a:rPr>
              <a:t>Mark Raafat : </a:t>
            </a:r>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Mobile Application Developers (Flutter) - Developing core screens, UI, and image capture flows.</a:t>
            </a:r>
            <a:endParaRPr lang="en-US" sz="1750" dirty="0"/>
          </a:p>
        </p:txBody>
      </p:sp>
      <p:sp>
        <p:nvSpPr>
          <p:cNvPr id="7" name="Text 5"/>
          <p:cNvSpPr/>
          <p:nvPr/>
        </p:nvSpPr>
        <p:spPr>
          <a:xfrm>
            <a:off x="793790" y="5044678"/>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CFD0D8"/>
                </a:solidFill>
                <a:latin typeface="Roboto" pitchFamily="34" charset="0"/>
                <a:ea typeface="Roboto" pitchFamily="34" charset="-122"/>
                <a:cs typeface="Roboto" pitchFamily="34" charset="-120"/>
              </a:rPr>
              <a:t>Ahmed Yuosry :</a:t>
            </a:r>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 Mobile Application Developers (Flutter) - Developing core screens, UI, and image capture flows.</a:t>
            </a:r>
            <a:endParaRPr lang="en-US" sz="1750" dirty="0"/>
          </a:p>
        </p:txBody>
      </p:sp>
      <p:sp>
        <p:nvSpPr>
          <p:cNvPr id="8" name="Text 6"/>
          <p:cNvSpPr/>
          <p:nvPr/>
        </p:nvSpPr>
        <p:spPr>
          <a:xfrm>
            <a:off x="793790" y="5486876"/>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CFD0D8"/>
                </a:solidFill>
                <a:latin typeface="Roboto" pitchFamily="34" charset="0"/>
                <a:ea typeface="Roboto" pitchFamily="34" charset="-122"/>
                <a:cs typeface="Roboto" pitchFamily="34" charset="-120"/>
              </a:rPr>
              <a:t>Mina Naseeh:</a:t>
            </a:r>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 Backend Engineer - Designing the database schema and core API logic.</a:t>
            </a:r>
            <a:endParaRPr lang="en-US" sz="1750" dirty="0"/>
          </a:p>
        </p:txBody>
      </p:sp>
      <p:sp>
        <p:nvSpPr>
          <p:cNvPr id="9" name="Text 7"/>
          <p:cNvSpPr/>
          <p:nvPr/>
        </p:nvSpPr>
        <p:spPr>
          <a:xfrm>
            <a:off x="793790" y="5929074"/>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b="1" dirty="0">
                <a:solidFill>
                  <a:srgbClr val="CFD0D8"/>
                </a:solidFill>
                <a:latin typeface="Roboto" pitchFamily="34" charset="0"/>
                <a:ea typeface="Roboto" pitchFamily="34" charset="-122"/>
                <a:cs typeface="Roboto" pitchFamily="34" charset="-120"/>
              </a:rPr>
              <a:t>Ayad:</a:t>
            </a:r>
            <a:pPr algn="l" indent="0" marL="0">
              <a:lnSpc>
                <a:spcPts val="2850"/>
              </a:lnSpc>
              <a:buNone/>
            </a:pPr>
            <a:r>
              <a:rPr lang="en-US" sz="1750" dirty="0">
                <a:solidFill>
                  <a:srgbClr val="CFD0D8"/>
                </a:solidFill>
                <a:latin typeface="Roboto" pitchFamily="34" charset="0"/>
                <a:ea typeface="Roboto" pitchFamily="34" charset="-122"/>
                <a:cs typeface="Roboto" pitchFamily="34" charset="-120"/>
              </a:rPr>
              <a:t> Backend Engineer - Handling authentication, component integration, and deployment setup.</a:t>
            </a:r>
            <a:endParaRPr lang="en-US" sz="1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2697123"/>
            <a:ext cx="13042821" cy="2835354"/>
          </a:xfrm>
          <a:prstGeom prst="rect">
            <a:avLst/>
          </a:prstGeom>
          <a:noFill/>
          <a:ln/>
        </p:spPr>
        <p:txBody>
          <a:bodyPr wrap="square" lIns="0" tIns="0" rIns="0" bIns="0" rtlCol="0" anchor="t"/>
          <a:lstStyle/>
          <a:p>
            <a:pPr algn="ctr" indent="0" marL="0">
              <a:lnSpc>
                <a:spcPts val="11150"/>
              </a:lnSpc>
              <a:buNone/>
            </a:pPr>
            <a:r>
              <a:rPr lang="en-US" sz="8900" dirty="0">
                <a:solidFill>
                  <a:srgbClr val="FFFFFF"/>
                </a:solidFill>
                <a:latin typeface="Roboto Medium" pitchFamily="34" charset="0"/>
                <a:ea typeface="Roboto Medium" pitchFamily="34" charset="-122"/>
                <a:cs typeface="Roboto Medium" pitchFamily="34" charset="-120"/>
              </a:rPr>
              <a:t>Thank You for Your Focus</a:t>
            </a:r>
            <a:endParaRPr lang="en-US" sz="8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2025-12-24T02:19:21Z</dcterms:created>
  <dcterms:modified xsi:type="dcterms:W3CDTF">2025-12-24T02:19:21Z</dcterms:modified>
</cp:coreProperties>
</file>